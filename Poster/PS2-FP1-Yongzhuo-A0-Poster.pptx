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3958028ca94c19" /><Relationship Type="http://schemas.openxmlformats.org/officeDocument/2006/relationships/extended-properties" Target="/docProps/app.xml" Id="Rd5e129a28337482e" /><Relationship Type="http://schemas.openxmlformats.org/officeDocument/2006/relationships/officeDocument" Target="/ppt/presentation.xml" Id="Rb885a3ac1e074ccb" /></Relationships>
</file>

<file path=ppt/presentation.xml><?xml version="1.0" encoding="utf-8"?>
<p:presentation xmlns:p="http://schemas.openxmlformats.org/presentationml/2006/main">
  <p:sldMasterIdLst>
    <p:sldMasterId xmlns:r="http://schemas.openxmlformats.org/officeDocument/2006/relationships" id="2147483648" r:id="R0cb1c5a35d124c9b"/>
  </p:sldMasterIdLst>
  <p:notesMasterIdLst>
    <p:notesMasterId xmlns:r="http://schemas.openxmlformats.org/officeDocument/2006/relationships" r:id="Rbe44d2a812da44da"/>
  </p:notesMasterIdLst>
  <p:sldIdLst>
    <p:sldId xmlns:r="http://schemas.openxmlformats.org/officeDocument/2006/relationships" id="256" r:id="Ra75b02da3a734338"/>
  </p:sldIdLst>
  <p:sldSz cx="42804000" cy="3027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688c697c5f4578" /><Relationship Type="http://schemas.openxmlformats.org/officeDocument/2006/relationships/slideMaster" Target="/ppt/slideMasters/slideMaster1.xml" Id="R0cb1c5a35d124c9b" /><Relationship Type="http://schemas.openxmlformats.org/officeDocument/2006/relationships/notesMaster" Target="/ppt/notesMasters/notesMaster1.xml" Id="Rbe44d2a812da44da" /><Relationship Type="http://schemas.openxmlformats.org/officeDocument/2006/relationships/presProps" Target="/ppt/presProps.xml" Id="R1d1570b6ff23498c" /><Relationship Type="http://schemas.openxmlformats.org/officeDocument/2006/relationships/tableStyles" Target="/ppt/tableStyles.xml" Id="Rd0324c8e971e44c7" /><Relationship Type="http://schemas.openxmlformats.org/officeDocument/2006/relationships/slide" Target="/ppt/slides/slide1.xml" Id="Ra75b02da3a7343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cd43af501448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dc91bb13ad4b84" /><Relationship Type="http://schemas.openxmlformats.org/officeDocument/2006/relationships/notesMaster" Target="/ppt/notesMasters/notesMaster1.xml" Id="R001486ad744148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Yongzhuo Wu, FP1, Session B, COMSCI/ECON 206. Canonical source: https://github.com/dku-comsci-econ206-Autumn2026/PS2-FP1-Yongzhuo-Wu, submission release ps2. Demonstration: https://huggingface.co/spaces/dku-comsci-econ206-2026/AI-Sycophancy. Sources: Cheng https://doi.org/10.1126/science.aec8352; Sharma https://openreview.net/forum?id=tvhaxkMKAn; Nash https://doi.org/10.1073/pnas.36.1.48; Vickrey https://doi.org/10.1111/j.1540-6261.1961.tb02789.x; Roughgarden https://theory.stanford.edu/~tim/w14/l/l21.pdf. Mechanism sources: Miller et al. https://doi.org/10.1287/mnsc.1050.0379; Witkowski et al. https://doi.org/10.1609/hcomp.v1i1.13089. Both address information/effort incentives; this project instead assumes verified delivery and studies auction-funded app supply. The course A0 template and DKU logo are preserved. One author reflection and five Studio screenshots accompany the paper source. No purchases, external participants or measured learning effects. Author Colab execution: 2026-10-06 11:08:10 UTC (19:08:10 Beijing time), Python 3.13.16. All eight code cells passed, including 14,406 bid deviations, four matching Nashpy cases and 121 cost-boundary mixed pairs. The saved outputs in Colab/PS2.ipynb are from this execution. The final cell computes the model-source SHA-256. Palette: #212A33 dark text; #003399 computed model, solid lines; #006633 author record, explicit observed labels; #56616B proposed work, text labels; #F4F6F7 neutral surface; #FFFFFF background; #CFD5D9 neutral dividers. Labels repeat each semantic distinction. AI assistance is credited in Author Notes and Appendix 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335d8708104b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f8ece714cb43f3" /><Relationship Type="http://schemas.openxmlformats.org/officeDocument/2006/relationships/slideLayout" Target="/ppt/slideLayouts/slideLayout1.xml" Id="Rbe61ab06ebcd4b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61ab06ebcd4b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c5719a42f6486c" /><Relationship Type="http://schemas.openxmlformats.org/officeDocument/2006/relationships/image" Target="/ppt/media/image.png" Id="Rb819f97ccab84bc4" /><Relationship Type="http://schemas.openxmlformats.org/officeDocument/2006/relationships/hyperlink" Target="https://huggingface.co/spaces/dku-comsci-econ206-2026/AI-Sycophancy" TargetMode="External" Id="Rb145dd7bc7a54ed0" /><Relationship Type="http://schemas.openxmlformats.org/officeDocument/2006/relationships/hyperlink" Target="https://github.com/dku-comsci-econ206-Autumn2026/PS2-FP1-Yongzhuo-Wu" TargetMode="External" Id="R5b1c2b8a18c64ac0" /><Relationship Type="http://schemas.openxmlformats.org/officeDocument/2006/relationships/image" Target="/ppt/media/image2.png" Id="Rad0bc80d35c240cc" /><Relationship Type="http://schemas.openxmlformats.org/officeDocument/2006/relationships/image" Target="/ppt/media/image3.png" Id="Re929055afa4e4456" /><Relationship Type="http://schemas.openxmlformats.org/officeDocument/2006/relationships/notesSlide" Target="/ppt/notesSlides/notesSlide1.xml" Id="R9a186cafc51640f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op-brand-rule">
            <a:extLst xmlns:a="http://schemas.openxmlformats.org/drawingml/2006/main">
              <a:ext uri="{FF2B5EF4-FFF2-40B4-BE49-F238E27FC236}">
                <a16:creationId xmlns:a16="http://schemas.microsoft.com/office/drawing/2014/main" id="{FDACD238-30EA-433B-B9A8-2AB270625A83}"/>
              </a:ext>
            </a:extLst>
          </p:cNvPr>
          <p:cNvSpPr>
            <a:spLocks xmlns:a="http://schemas.openxmlformats.org/drawingml/2006/main" noGrp="1"/>
          </p:cNvSpPr>
          <p:nvPr/>
        </p:nvSpPr>
        <p:spPr>
          <a:xfrm xmlns:a="http://schemas.openxmlformats.org/drawingml/2006/main">
            <a:off x="0" y="0"/>
            <a:ext cx="42804000" cy="228600"/>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2" name="course-line">
            <a:extLst xmlns:a="http://schemas.openxmlformats.org/drawingml/2006/main">
              <a:ext uri="{FF2B5EF4-FFF2-40B4-BE49-F238E27FC236}">
                <a16:creationId xmlns:a16="http://schemas.microsoft.com/office/drawing/2014/main" id="{5806B552-CE06-4C40-BA14-45983C2DB289}"/>
              </a:ext>
            </a:extLst>
          </p:cNvPr>
          <p:cNvSpPr>
            <a:spLocks xmlns:a="http://schemas.openxmlformats.org/drawingml/2006/main" noGrp="1"/>
          </p:cNvSpPr>
          <p:nvPr/>
        </p:nvSpPr>
        <p:spPr>
          <a:xfrm xmlns:a="http://schemas.openxmlformats.org/drawingml/2006/main">
            <a:off x="1333500" y="781050"/>
            <a:ext cx="2886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003399"/>
                </a:solidFill>
                <a:latin typeface="Calibri"/>
                <a:ea typeface="Calibri"/>
                <a:cs typeface="Calibri"/>
              </a:defRPr>
            </a:pPr>
            <a:r>
              <a:rPr sz="2700" b="1">
                <a:solidFill>
                  <a:srgbClr val="003399"/>
                </a:solidFill>
                <a:latin typeface="Calibri"/>
                <a:ea typeface="Calibri"/>
                <a:cs typeface="Calibri"/>
              </a:rPr>
              <a:t>COMSCI / ECON 206     PS2 RESEARCH SYMPOSIUM     FALL 2026</a:t>
            </a:r>
          </a:p>
        </p:txBody>
      </p:sp>
      <p:sp>
        <p:nvSpPr>
          <p:cNvPr id="3" name="version">
            <a:extLst xmlns:a="http://schemas.openxmlformats.org/drawingml/2006/main">
              <a:ext uri="{FF2B5EF4-FFF2-40B4-BE49-F238E27FC236}">
                <a16:creationId xmlns:a16="http://schemas.microsoft.com/office/drawing/2014/main" id="{05588AA4-5EDB-4475-A143-90877DB14160}"/>
              </a:ext>
            </a:extLst>
          </p:cNvPr>
          <p:cNvSpPr>
            <a:spLocks xmlns:a="http://schemas.openxmlformats.org/drawingml/2006/main" noGrp="1"/>
          </p:cNvSpPr>
          <p:nvPr/>
        </p:nvSpPr>
        <p:spPr>
          <a:xfrm xmlns:a="http://schemas.openxmlformats.org/drawingml/2006/main">
            <a:off x="31623000" y="6153150"/>
            <a:ext cx="981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2100" b="1">
                <a:solidFill>
                  <a:srgbClr val="006633"/>
                </a:solidFill>
                <a:latin typeface="Calibri"/>
                <a:ea typeface="Calibri"/>
                <a:cs typeface="Calibri"/>
              </a:defRPr>
            </a:pPr>
            <a:r>
              <a:rPr sz="2100" b="1">
                <a:solidFill>
                  <a:srgbClr val="006633"/>
                </a:solidFill>
                <a:latin typeface="Calibri"/>
                <a:ea typeface="Calibri"/>
                <a:cs typeface="Calibri"/>
              </a:rPr>
              <a:t>6 OCTOBER 2026</a:t>
            </a:r>
          </a:p>
        </p:txBody>
      </p:sp>
      <p:sp>
        <p:nvSpPr>
          <p:cNvPr id="4" name="project-title">
            <a:extLst xmlns:a="http://schemas.openxmlformats.org/drawingml/2006/main">
              <a:ext uri="{FF2B5EF4-FFF2-40B4-BE49-F238E27FC236}">
                <a16:creationId xmlns:a16="http://schemas.microsoft.com/office/drawing/2014/main" id="{B66A5B7F-804A-4F30-B6A0-3C5C2AB4C437}"/>
              </a:ext>
            </a:extLst>
          </p:cNvPr>
          <p:cNvSpPr>
            <a:spLocks xmlns:a="http://schemas.openxmlformats.org/drawingml/2006/main" noGrp="1"/>
          </p:cNvSpPr>
          <p:nvPr/>
        </p:nvSpPr>
        <p:spPr>
          <a:xfrm xmlns:a="http://schemas.openxmlformats.org/drawingml/2006/main">
            <a:off x="1333500" y="1733550"/>
            <a:ext cx="29146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450" b="1">
                <a:solidFill>
                  <a:srgbClr val="003399"/>
                </a:solidFill>
                <a:latin typeface="Calibri"/>
                <a:ea typeface="Calibri"/>
                <a:cs typeface="Calibri"/>
              </a:defRPr>
            </a:pPr>
            <a:r>
              <a:rPr sz="9450" b="1">
                <a:solidFill>
                  <a:srgbClr val="003399"/>
                </a:solidFill>
                <a:latin typeface="Calibri"/>
                <a:ea typeface="Calibri"/>
                <a:cs typeface="Calibri"/>
              </a:rPr>
              <a:t>How to Make AI Applications</a:t>
            </a:r>
          </a:p>
          <a:p xmlns:a="http://schemas.openxmlformats.org/drawingml/2006/main">
            <a:pPr algn="l">
              <a:buNone/>
              <a:defRPr sz="9450" b="1">
                <a:solidFill>
                  <a:srgbClr val="003399"/>
                </a:solidFill>
                <a:latin typeface="Calibri"/>
                <a:ea typeface="Calibri"/>
                <a:cs typeface="Calibri"/>
              </a:defRPr>
            </a:pPr>
            <a:r>
              <a:rPr sz="9450" b="1">
                <a:solidFill>
                  <a:srgbClr val="003399"/>
                </a:solidFill>
                <a:latin typeface="Calibri"/>
                <a:ea typeface="Calibri"/>
                <a:cs typeface="Calibri"/>
              </a:rPr>
              <a:t>Reduce Sycophancy</a:t>
            </a:r>
          </a:p>
        </p:txBody>
      </p:sp>
      <p:sp>
        <p:nvSpPr>
          <p:cNvPr id="5" name="authors">
            <a:extLst xmlns:a="http://schemas.openxmlformats.org/drawingml/2006/main">
              <a:ext uri="{FF2B5EF4-FFF2-40B4-BE49-F238E27FC236}">
                <a16:creationId xmlns:a16="http://schemas.microsoft.com/office/drawing/2014/main" id="{439A7EDB-36D0-4D9A-9F53-6704B96A144F}"/>
              </a:ext>
            </a:extLst>
          </p:cNvPr>
          <p:cNvSpPr>
            <a:spLocks xmlns:a="http://schemas.openxmlformats.org/drawingml/2006/main" noGrp="1"/>
          </p:cNvSpPr>
          <p:nvPr/>
        </p:nvSpPr>
        <p:spPr>
          <a:xfrm xmlns:a="http://schemas.openxmlformats.org/drawingml/2006/main">
            <a:off x="1333500" y="4457700"/>
            <a:ext cx="2857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050" b="1">
                <a:solidFill>
                  <a:srgbClr val="212A33"/>
                </a:solidFill>
                <a:latin typeface="Calibri"/>
                <a:ea typeface="Calibri"/>
                <a:cs typeface="Calibri"/>
              </a:defRPr>
            </a:pPr>
            <a:r>
              <a:rPr sz="4050" b="1">
                <a:solidFill>
                  <a:srgbClr val="212A33"/>
                </a:solidFill>
                <a:latin typeface="Calibri"/>
                <a:ea typeface="Calibri"/>
                <a:cs typeface="Calibri"/>
              </a:rPr>
              <a:t>Yongzhuo Wu   Team FP1   Session B   yw650@duke.edu</a:t>
            </a:r>
          </a:p>
        </p:txBody>
      </p:sp>
      <p:sp>
        <p:nvSpPr>
          <p:cNvPr id="6" name="course-instructor">
            <a:extLst xmlns:a="http://schemas.openxmlformats.org/drawingml/2006/main">
              <a:ext uri="{FF2B5EF4-FFF2-40B4-BE49-F238E27FC236}">
                <a16:creationId xmlns:a16="http://schemas.microsoft.com/office/drawing/2014/main" id="{E0620329-B4C6-41DE-A2DD-7C1BAB05722F}"/>
              </a:ext>
            </a:extLst>
          </p:cNvPr>
          <p:cNvSpPr>
            <a:spLocks xmlns:a="http://schemas.openxmlformats.org/drawingml/2006/main" noGrp="1"/>
          </p:cNvSpPr>
          <p:nvPr/>
        </p:nvSpPr>
        <p:spPr>
          <a:xfrm xmlns:a="http://schemas.openxmlformats.org/drawingml/2006/main">
            <a:off x="1333500" y="5229225"/>
            <a:ext cx="2857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2175" b="0">
                <a:solidFill>
                  <a:srgbClr val="1E2933"/>
                </a:solidFill>
                <a:latin typeface="Calibri"/>
                <a:ea typeface="Calibri"/>
                <a:cs typeface="Calibri"/>
              </a:defRPr>
            </a:pPr>
            <a:r>
              <a:rPr sz="2175" b="0">
                <a:solidFill>
                  <a:srgbClr val="1E2933"/>
                </a:solidFill>
                <a:latin typeface="Calibri"/>
                <a:ea typeface="Calibri"/>
                <a:cs typeface="Calibri"/>
              </a:rPr>
              <a:t>Course instructor: Professor Luyao Zhang</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b819f97ccab84bc4"/>
          <a:stretch xmlns:a="http://schemas.openxmlformats.org/drawingml/2006/main"/>
        </p:blipFill>
        <p:spPr>
          <a:xfrm xmlns:a="http://schemas.openxmlformats.org/drawingml/2006/main">
            <a:off x="32575500" y="2190750"/>
            <a:ext cx="8096250" cy="2595818"/>
          </a:xfrm>
          <a:prstGeom xmlns:a="http://schemas.openxmlformats.org/drawingml/2006/main" prst="rect">
            <a:avLst/>
          </a:prstGeom>
        </p:spPr>
      </p:pic>
      <p:sp>
        <p:nvSpPr>
          <p:cNvPr id="8" name="takeaway-band">
            <a:extLst xmlns:a="http://schemas.openxmlformats.org/drawingml/2006/main">
              <a:ext uri="{FF2B5EF4-FFF2-40B4-BE49-F238E27FC236}">
                <a16:creationId xmlns:a16="http://schemas.microsoft.com/office/drawing/2014/main" id="{E5C59819-8AE8-4F07-93AA-7B6F5A9A66D5}"/>
              </a:ext>
            </a:extLst>
          </p:cNvPr>
          <p:cNvSpPr>
            <a:spLocks xmlns:a="http://schemas.openxmlformats.org/drawingml/2006/main" noGrp="1"/>
          </p:cNvSpPr>
          <p:nvPr/>
        </p:nvSpPr>
        <p:spPr>
          <a:xfrm xmlns:a="http://schemas.openxmlformats.org/drawingml/2006/main">
            <a:off x="0" y="6572250"/>
            <a:ext cx="42804000" cy="2143125"/>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9" name="takeaway-label">
            <a:extLst xmlns:a="http://schemas.openxmlformats.org/drawingml/2006/main">
              <a:ext uri="{FF2B5EF4-FFF2-40B4-BE49-F238E27FC236}">
                <a16:creationId xmlns:a16="http://schemas.microsoft.com/office/drawing/2014/main" id="{701690AD-D64E-4607-AE56-414773E6FFD1}"/>
              </a:ext>
            </a:extLst>
          </p:cNvPr>
          <p:cNvSpPr>
            <a:spLocks xmlns:a="http://schemas.openxmlformats.org/drawingml/2006/main" noGrp="1"/>
          </p:cNvSpPr>
          <p:nvPr/>
        </p:nvSpPr>
        <p:spPr>
          <a:xfrm xmlns:a="http://schemas.openxmlformats.org/drawingml/2006/main">
            <a:off x="1333500" y="72390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2700" b="1">
                <a:solidFill>
                  <a:srgbClr val="FFFFFF"/>
                </a:solidFill>
                <a:latin typeface="Calibri"/>
                <a:ea typeface="Calibri"/>
                <a:cs typeface="Calibri"/>
              </a:defRPr>
            </a:pPr>
            <a:r>
              <a:rPr sz="2700" b="1">
                <a:solidFill>
                  <a:srgbClr val="FFFFFF"/>
                </a:solidFill>
                <a:latin typeface="Calibri"/>
                <a:ea typeface="Calibri"/>
                <a:cs typeface="Calibri"/>
              </a:rPr>
              <a:t>KEY MESSAGE</a:t>
            </a:r>
          </a:p>
        </p:txBody>
      </p:sp>
      <p:sp>
        <p:nvSpPr>
          <p:cNvPr id="10" name="takeaway">
            <a:extLst xmlns:a="http://schemas.openxmlformats.org/drawingml/2006/main">
              <a:ext uri="{FF2B5EF4-FFF2-40B4-BE49-F238E27FC236}">
                <a16:creationId xmlns:a16="http://schemas.microsoft.com/office/drawing/2014/main" id="{83EFFE95-83CD-498B-99EF-83DF06C3C922}"/>
              </a:ext>
            </a:extLst>
          </p:cNvPr>
          <p:cNvSpPr>
            <a:spLocks xmlns:a="http://schemas.openxmlformats.org/drawingml/2006/main" noGrp="1"/>
          </p:cNvSpPr>
          <p:nvPr/>
        </p:nvSpPr>
        <p:spPr>
          <a:xfrm xmlns:a="http://schemas.openxmlformats.org/drawingml/2006/main">
            <a:off x="6477000" y="7000875"/>
            <a:ext cx="34993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25" b="1">
                <a:solidFill>
                  <a:srgbClr val="FFFFFF"/>
                </a:solidFill>
                <a:latin typeface="Calibri"/>
                <a:ea typeface="Calibri"/>
                <a:cs typeface="Calibri"/>
              </a:defRPr>
            </a:pPr>
            <a:r>
              <a:rPr sz="4425" b="1">
                <a:solidFill>
                  <a:srgbClr val="FFFFFF"/>
                </a:solidFill>
                <a:latin typeface="Calibri"/>
                <a:ea typeface="Calibri"/>
                <a:cs typeface="Calibri"/>
              </a:rPr>
              <a:t>Correction payment must cover both the incentive loss and delivery cost. Strong demand yields HH at cost 0. At cost 1, honesty loses its strict advantage.</a:t>
            </a:r>
          </a:p>
        </p:txBody>
      </p:sp>
      <p:sp>
        <p:nvSpPr>
          <p:cNvPr id="11" name="question-model-title">
            <a:extLst xmlns:a="http://schemas.openxmlformats.org/drawingml/2006/main">
              <a:ext uri="{FF2B5EF4-FFF2-40B4-BE49-F238E27FC236}">
                <a16:creationId xmlns:a16="http://schemas.microsoft.com/office/drawing/2014/main" id="{CD5C4DFB-E23C-429C-B167-B9CF4889CB3B}"/>
              </a:ext>
            </a:extLst>
          </p:cNvPr>
          <p:cNvSpPr>
            <a:spLocks xmlns:a="http://schemas.openxmlformats.org/drawingml/2006/main" noGrp="1"/>
          </p:cNvSpPr>
          <p:nvPr/>
        </p:nvSpPr>
        <p:spPr>
          <a:xfrm xmlns:a="http://schemas.openxmlformats.org/drawingml/2006/main">
            <a:off x="1333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4650" b="1">
                <a:solidFill>
                  <a:srgbClr val="003399"/>
                </a:solidFill>
                <a:latin typeface="Calibri"/>
                <a:ea typeface="Calibri"/>
                <a:cs typeface="Calibri"/>
              </a:defRPr>
            </a:pPr>
            <a:r>
              <a:rPr sz="4650" b="1">
                <a:solidFill>
                  <a:srgbClr val="003399"/>
                </a:solidFill>
                <a:latin typeface="Calibri"/>
                <a:ea typeface="Calibri"/>
                <a:cs typeface="Calibri"/>
              </a:rPr>
              <a:t>01   Question &amp; model</a:t>
            </a:r>
          </a:p>
        </p:txBody>
      </p:sp>
      <p:sp>
        <p:nvSpPr>
          <p:cNvPr id="12" name="question-model-title-rule">
            <a:extLst xmlns:a="http://schemas.openxmlformats.org/drawingml/2006/main">
              <a:ext uri="{FF2B5EF4-FFF2-40B4-BE49-F238E27FC236}">
                <a16:creationId xmlns:a16="http://schemas.microsoft.com/office/drawing/2014/main" id="{F81F4A35-5377-44CB-941D-4B8D9F26180B}"/>
              </a:ext>
            </a:extLst>
          </p:cNvPr>
          <p:cNvSpPr>
            <a:spLocks xmlns:a="http://schemas.openxmlformats.org/drawingml/2006/main" noGrp="1"/>
          </p:cNvSpPr>
          <p:nvPr/>
        </p:nvSpPr>
        <p:spPr>
          <a:xfrm xmlns:a="http://schemas.openxmlformats.org/drawingml/2006/main">
            <a:off x="1333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13" name="research-question-heading">
            <a:extLst xmlns:a="http://schemas.openxmlformats.org/drawingml/2006/main">
              <a:ext uri="{FF2B5EF4-FFF2-40B4-BE49-F238E27FC236}">
                <a16:creationId xmlns:a16="http://schemas.microsoft.com/office/drawing/2014/main" id="{4190E777-F9CF-4131-93FB-BBFC74FF79EA}"/>
              </a:ext>
            </a:extLst>
          </p:cNvPr>
          <p:cNvSpPr>
            <a:spLocks xmlns:a="http://schemas.openxmlformats.org/drawingml/2006/main" noGrp="1"/>
          </p:cNvSpPr>
          <p:nvPr/>
        </p:nvSpPr>
        <p:spPr>
          <a:xfrm xmlns:a="http://schemas.openxmlformats.org/drawingml/2006/main">
            <a:off x="1333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Research question &amp; verified gap</a:t>
            </a:r>
          </a:p>
        </p:txBody>
      </p:sp>
      <p:sp>
        <p:nvSpPr>
          <p:cNvPr id="14" name="research-question">
            <a:extLst xmlns:a="http://schemas.openxmlformats.org/drawingml/2006/main">
              <a:ext uri="{FF2B5EF4-FFF2-40B4-BE49-F238E27FC236}">
                <a16:creationId xmlns:a16="http://schemas.microsoft.com/office/drawing/2014/main" id="{76FF89C4-3045-4C47-A236-4952EAA04A98}"/>
              </a:ext>
            </a:extLst>
          </p:cNvPr>
          <p:cNvSpPr>
            <a:spLocks xmlns:a="http://schemas.openxmlformats.org/drawingml/2006/main" noGrp="1"/>
          </p:cNvSpPr>
          <p:nvPr/>
        </p:nvSpPr>
        <p:spPr>
          <a:xfrm xmlns:a="http://schemas.openxmlformats.org/drawingml/2006/main">
            <a:off x="1333500" y="11906250"/>
            <a:ext cx="11049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Can paid correction change app incentives without sacrificing access?</a:t>
            </a:r>
          </a:p>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Peer prediction rewards information and effort [4,5]. This sycophancy case [1] assumes verified delivery and links customer-funded app supply to costs and access.</a:t>
            </a:r>
          </a:p>
        </p:txBody>
      </p:sp>
      <p:sp>
        <p:nvSpPr>
          <p:cNvPr id="15" name="model-heading">
            <a:extLst xmlns:a="http://schemas.openxmlformats.org/drawingml/2006/main">
              <a:ext uri="{FF2B5EF4-FFF2-40B4-BE49-F238E27FC236}">
                <a16:creationId xmlns:a16="http://schemas.microsoft.com/office/drawing/2014/main" id="{19910E6B-D44C-401D-8E76-04691CDB9EA9}"/>
              </a:ext>
            </a:extLst>
          </p:cNvPr>
          <p:cNvSpPr>
            <a:spLocks xmlns:a="http://schemas.openxmlformats.org/drawingml/2006/main" noGrp="1"/>
          </p:cNvSpPr>
          <p:nvPr/>
        </p:nvSpPr>
        <p:spPr>
          <a:xfrm xmlns:a="http://schemas.openxmlformats.org/drawingml/2006/main">
            <a:off x="1333500" y="151447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Strategic model &amp; foundations</a:t>
            </a:r>
          </a:p>
        </p:txBody>
      </p:sp>
      <p:sp>
        <p:nvSpPr>
          <p:cNvPr id="16" name="model">
            <a:extLst xmlns:a="http://schemas.openxmlformats.org/drawingml/2006/main">
              <a:ext uri="{FF2B5EF4-FFF2-40B4-BE49-F238E27FC236}">
                <a16:creationId xmlns:a16="http://schemas.microsoft.com/office/drawing/2014/main" id="{BD93B7B7-C6A1-4C6C-8B07-9664A884A221}"/>
              </a:ext>
            </a:extLst>
          </p:cNvPr>
          <p:cNvSpPr>
            <a:spLocks xmlns:a="http://schemas.openxmlformats.org/drawingml/2006/main" noGrp="1"/>
          </p:cNvSpPr>
          <p:nvPr/>
        </p:nvSpPr>
        <p:spPr>
          <a:xfrm xmlns:a="http://schemas.openxmlformats.org/drawingml/2006/main">
            <a:off x="1333500" y="15906750"/>
            <a:ext cx="11049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Apps A/B choose H (verifiable correction) or S (sycophancy) simultaneously. They know payoffs, demand and costs but cannot observe concurrent actions. Use Nash equilibrium [2].</a:t>
            </a:r>
          </a:p>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Each H commits one slot before bidding and earns price minus c. Delivery and payment are enforceable.</a:t>
            </a:r>
          </a:p>
        </p:txBody>
      </p:sp>
      <p:sp>
        <p:nvSpPr>
          <p:cNvPr id="17" name="lenses-heading">
            <a:extLst xmlns:a="http://schemas.openxmlformats.org/drawingml/2006/main">
              <a:ext uri="{FF2B5EF4-FFF2-40B4-BE49-F238E27FC236}">
                <a16:creationId xmlns:a16="http://schemas.microsoft.com/office/drawing/2014/main" id="{DAFBC93E-B2F0-417F-9381-A98FDF506C48}"/>
              </a:ext>
            </a:extLst>
          </p:cNvPr>
          <p:cNvSpPr>
            <a:spLocks xmlns:a="http://schemas.openxmlformats.org/drawingml/2006/main" noGrp="1"/>
          </p:cNvSpPr>
          <p:nvPr/>
        </p:nvSpPr>
        <p:spPr>
          <a:xfrm xmlns:a="http://schemas.openxmlformats.org/drawingml/2006/main">
            <a:off x="1333500" y="19526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Three complementary lenses</a:t>
            </a:r>
          </a:p>
        </p:txBody>
      </p:sp>
      <p:sp>
        <p:nvSpPr>
          <p:cNvPr id="18" name="lenses">
            <a:extLst xmlns:a="http://schemas.openxmlformats.org/drawingml/2006/main">
              <a:ext uri="{FF2B5EF4-FFF2-40B4-BE49-F238E27FC236}">
                <a16:creationId xmlns:a16="http://schemas.microsoft.com/office/drawing/2014/main" id="{E2BAF178-74E4-4DFF-A2BB-763467E733E6}"/>
              </a:ext>
            </a:extLst>
          </p:cNvPr>
          <p:cNvSpPr>
            <a:spLocks xmlns:a="http://schemas.openxmlformats.org/drawingml/2006/main" noGrp="1"/>
          </p:cNvSpPr>
          <p:nvPr/>
        </p:nvSpPr>
        <p:spPr>
          <a:xfrm xmlns:a="http://schemas.openxmlformats.org/drawingml/2006/main">
            <a:off x="1333500" y="202882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Game theory predicts supply. Social choice evaluates W=value−ck and access. The auction changes net profit.</a:t>
            </a:r>
          </a:p>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At fixed k=2, a lottery gives each user access 2/3 and expected value 8; auction value is 9. Financing is unspecified.</a:t>
            </a:r>
          </a:p>
        </p:txBody>
      </p:sp>
      <p:sp>
        <p:nvSpPr>
          <p:cNvPr id="19" name="auction-heading">
            <a:extLst xmlns:a="http://schemas.openxmlformats.org/drawingml/2006/main">
              <a:ext uri="{FF2B5EF4-FFF2-40B4-BE49-F238E27FC236}">
                <a16:creationId xmlns:a16="http://schemas.microsoft.com/office/drawing/2014/main" id="{0A85FF4E-C110-48A1-8567-A06DAC93CC6E}"/>
              </a:ext>
            </a:extLst>
          </p:cNvPr>
          <p:cNvSpPr>
            <a:spLocks xmlns:a="http://schemas.openxmlformats.org/drawingml/2006/main" noGrp="1"/>
          </p:cNvSpPr>
          <p:nvPr/>
        </p:nvSpPr>
        <p:spPr>
          <a:xfrm xmlns:a="http://schemas.openxmlformats.org/drawingml/2006/main">
            <a:off x="1333500" y="23336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Auction or allocation comparison</a:t>
            </a:r>
          </a:p>
        </p:txBody>
      </p:sp>
      <p:sp>
        <p:nvSpPr>
          <p:cNvPr id="20" name="auction">
            <a:extLst xmlns:a="http://schemas.openxmlformats.org/drawingml/2006/main">
              <a:ext uri="{FF2B5EF4-FFF2-40B4-BE49-F238E27FC236}">
                <a16:creationId xmlns:a16="http://schemas.microsoft.com/office/drawing/2014/main" id="{182900A4-D41C-4FC8-8D3B-A44A8758AC89}"/>
              </a:ext>
            </a:extLst>
          </p:cNvPr>
          <p:cNvSpPr>
            <a:spLocks xmlns:a="http://schemas.openxmlformats.org/drawingml/2006/main" noGrp="1"/>
          </p:cNvSpPr>
          <p:nvPr/>
        </p:nvSpPr>
        <p:spPr>
          <a:xfrm xmlns:a="http://schemas.openxmlformats.org/drawingml/2006/main">
            <a:off x="1333500" y="240982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0">
                <a:solidFill>
                  <a:srgbClr val="212A33"/>
                </a:solidFill>
                <a:latin typeface="Calibri"/>
                <a:ea typeface="Calibri"/>
                <a:cs typeface="Calibri"/>
              </a:defRPr>
            </a:pPr>
            <a:r>
              <a:rPr sz="3150" b="0">
                <a:solidFill>
                  <a:srgbClr val="212A33"/>
                </a:solidFill>
                <a:latin typeface="Calibri"/>
                <a:ea typeface="Calibri"/>
                <a:cs typeface="Calibri"/>
              </a:rPr>
              <a:t>Three private-value, unit-demand users bid for k identical slots. Top k win at bid k+1. Lower ID breaks ties. One round, no reserve or loser payment [3].</a:t>
            </a:r>
          </a:p>
          <a:p xmlns:a="http://schemas.openxmlformats.org/drawingml/2006/main">
            <a:pPr algn="l">
              <a:buNone/>
              <a:defRPr sz="3150" b="0">
                <a:solidFill>
                  <a:srgbClr val="212A33"/>
                </a:solidFill>
                <a:latin typeface="Calibri"/>
                <a:ea typeface="Calibri"/>
                <a:cs typeface="Calibri"/>
              </a:defRPr>
            </a:pPr>
            <a:r>
              <a:rPr sz="3150" b="0">
                <a:solidFill>
                  <a:srgbClr val="212A33"/>
                </a:solidFill>
                <a:latin typeface="Calibri"/>
                <a:ea typeface="Calibri"/>
                <a:cs typeface="Calibri"/>
              </a:rPr>
              <a:t>Compare strong (5,4,3), weak (3,2,1), and costs. Variable quality, budgets and unverifiable delivery fall outside this analogy.</a:t>
            </a:r>
          </a:p>
        </p:txBody>
      </p:sp>
      <p:sp>
        <p:nvSpPr>
          <p:cNvPr id="21" name="design-evidence-title">
            <a:extLst xmlns:a="http://schemas.openxmlformats.org/drawingml/2006/main">
              <a:ext uri="{FF2B5EF4-FFF2-40B4-BE49-F238E27FC236}">
                <a16:creationId xmlns:a16="http://schemas.microsoft.com/office/drawing/2014/main" id="{5BD8C5A5-8D38-4D0E-9168-5677F645D725}"/>
              </a:ext>
            </a:extLst>
          </p:cNvPr>
          <p:cNvSpPr>
            <a:spLocks xmlns:a="http://schemas.openxmlformats.org/drawingml/2006/main" noGrp="1"/>
          </p:cNvSpPr>
          <p:nvPr/>
        </p:nvSpPr>
        <p:spPr>
          <a:xfrm xmlns:a="http://schemas.openxmlformats.org/drawingml/2006/main">
            <a:off x="13335000" y="9525000"/>
            <a:ext cx="16134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4650" b="1">
                <a:solidFill>
                  <a:srgbClr val="003399"/>
                </a:solidFill>
                <a:latin typeface="Calibri"/>
                <a:ea typeface="Calibri"/>
                <a:cs typeface="Calibri"/>
              </a:defRPr>
            </a:pPr>
            <a:r>
              <a:rPr sz="4650" b="1">
                <a:solidFill>
                  <a:srgbClr val="003399"/>
                </a:solidFill>
                <a:latin typeface="Calibri"/>
                <a:ea typeface="Calibri"/>
                <a:cs typeface="Calibri"/>
              </a:rPr>
              <a:t>02   Design &amp; evidence</a:t>
            </a:r>
          </a:p>
        </p:txBody>
      </p:sp>
      <p:sp>
        <p:nvSpPr>
          <p:cNvPr id="22" name="design-evidence-title-rule">
            <a:extLst xmlns:a="http://schemas.openxmlformats.org/drawingml/2006/main">
              <a:ext uri="{FF2B5EF4-FFF2-40B4-BE49-F238E27FC236}">
                <a16:creationId xmlns:a16="http://schemas.microsoft.com/office/drawing/2014/main" id="{3074EA74-1821-4014-8E91-ECC3F7A887C1}"/>
              </a:ext>
            </a:extLst>
          </p:cNvPr>
          <p:cNvSpPr>
            <a:spLocks xmlns:a="http://schemas.openxmlformats.org/drawingml/2006/main" noGrp="1"/>
          </p:cNvSpPr>
          <p:nvPr/>
        </p:nvSpPr>
        <p:spPr>
          <a:xfrm xmlns:a="http://schemas.openxmlformats.org/drawingml/2006/main">
            <a:off x="13335000" y="10506075"/>
            <a:ext cx="16134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23" name="research-design-area">
            <a:extLst xmlns:a="http://schemas.openxmlformats.org/drawingml/2006/main">
              <a:ext uri="{FF2B5EF4-FFF2-40B4-BE49-F238E27FC236}">
                <a16:creationId xmlns:a16="http://schemas.microsoft.com/office/drawing/2014/main" id="{6BFB0873-E93B-425C-B20A-BE7D9281AAB2}"/>
              </a:ext>
            </a:extLst>
          </p:cNvPr>
          <p:cNvSpPr>
            <a:spLocks xmlns:a="http://schemas.openxmlformats.org/drawingml/2006/main" noGrp="1"/>
          </p:cNvSpPr>
          <p:nvPr/>
        </p:nvSpPr>
        <p:spPr>
          <a:xfrm xmlns:a="http://schemas.openxmlformats.org/drawingml/2006/main">
            <a:off x="13335000" y="11144250"/>
            <a:ext cx="16134000" cy="466725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4" name="research-design-label">
            <a:extLst xmlns:a="http://schemas.openxmlformats.org/drawingml/2006/main">
              <a:ext uri="{FF2B5EF4-FFF2-40B4-BE49-F238E27FC236}">
                <a16:creationId xmlns:a16="http://schemas.microsoft.com/office/drawing/2014/main" id="{8126654C-9B1A-4166-BD33-50CD41EA22A1}"/>
              </a:ext>
            </a:extLst>
          </p:cNvPr>
          <p:cNvSpPr>
            <a:spLocks xmlns:a="http://schemas.openxmlformats.org/drawingml/2006/main" noGrp="1"/>
          </p:cNvSpPr>
          <p:nvPr/>
        </p:nvSpPr>
        <p:spPr>
          <a:xfrm xmlns:a="http://schemas.openxmlformats.org/drawingml/2006/main">
            <a:off x="14001750" y="11477625"/>
            <a:ext cx="1438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1">
                <a:solidFill>
                  <a:srgbClr val="003399"/>
                </a:solidFill>
                <a:latin typeface="Calibri"/>
                <a:ea typeface="Calibri"/>
                <a:cs typeface="Calibri"/>
              </a:defRPr>
            </a:pPr>
            <a:r>
              <a:rPr sz="3600" b="1">
                <a:solidFill>
                  <a:srgbClr val="003399"/>
                </a:solidFill>
                <a:latin typeface="Calibri"/>
                <a:ea typeface="Calibri"/>
                <a:cs typeface="Calibri"/>
              </a:rPr>
              <a:t>PLATFORM MATRIX AND COST BOUNDARY</a:t>
            </a:r>
          </a:p>
        </p:txBody>
      </p:sp>
      <p:sp>
        <p:nvSpPr>
          <p:cNvPr id="26" name="design-caption">
            <a:extLst xmlns:a="http://schemas.openxmlformats.org/drawingml/2006/main">
              <a:ext uri="{FF2B5EF4-FFF2-40B4-BE49-F238E27FC236}">
                <a16:creationId xmlns:a16="http://schemas.microsoft.com/office/drawing/2014/main" id="{70CF347C-1901-4936-A975-9657C3531241}"/>
              </a:ext>
            </a:extLst>
          </p:cNvPr>
          <p:cNvSpPr>
            <a:spLocks xmlns:a="http://schemas.openxmlformats.org/drawingml/2006/main" noGrp="1"/>
          </p:cNvSpPr>
          <p:nvPr/>
        </p:nvSpPr>
        <p:spPr>
          <a:xfrm xmlns:a="http://schemas.openxmlformats.org/drawingml/2006/main">
            <a:off x="13335000" y="16097250"/>
            <a:ext cx="1613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56616B"/>
                </a:solidFill>
                <a:latin typeface="Calibri"/>
                <a:ea typeface="Calibri"/>
                <a:cs typeface="Calibri"/>
              </a:defRPr>
            </a:pPr>
            <a:r>
              <a:rPr sz="2850" b="0">
                <a:solidFill>
                  <a:srgbClr val="56616B"/>
                </a:solidFill>
                <a:latin typeface="Calibri"/>
                <a:ea typeface="Calibri"/>
                <a:cs typeface="Calibri"/>
              </a:rPr>
              <a:t>Figure 1. Baseline S strictly dominates. At strong cost 1, equal payoff rows/columns prove every mixed pair is an equilibrium. Nashpy confirms the four pure corners.</a:t>
            </a:r>
          </a:p>
        </p:txBody>
      </p:sp>
      <p:sp>
        <p:nvSpPr>
          <p:cNvPr id="27" name="main-result-area">
            <a:extLst xmlns:a="http://schemas.openxmlformats.org/drawingml/2006/main">
              <a:ext uri="{FF2B5EF4-FFF2-40B4-BE49-F238E27FC236}">
                <a16:creationId xmlns:a16="http://schemas.microsoft.com/office/drawing/2014/main" id="{AF352E9D-B9F1-4E49-9DC0-059C3E7F7E02}"/>
              </a:ext>
            </a:extLst>
          </p:cNvPr>
          <p:cNvSpPr>
            <a:spLocks xmlns:a="http://schemas.openxmlformats.org/drawingml/2006/main" noGrp="1"/>
          </p:cNvSpPr>
          <p:nvPr/>
        </p:nvSpPr>
        <p:spPr>
          <a:xfrm xmlns:a="http://schemas.openxmlformats.org/drawingml/2006/main">
            <a:off x="13335000" y="17621250"/>
            <a:ext cx="16134000" cy="628650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8" name="main-result-label">
            <a:extLst xmlns:a="http://schemas.openxmlformats.org/drawingml/2006/main">
              <a:ext uri="{FF2B5EF4-FFF2-40B4-BE49-F238E27FC236}">
                <a16:creationId xmlns:a16="http://schemas.microsoft.com/office/drawing/2014/main" id="{A95FDDB5-DC34-4CBB-B5F4-3B143142A5A8}"/>
              </a:ext>
            </a:extLst>
          </p:cNvPr>
          <p:cNvSpPr>
            <a:spLocks xmlns:a="http://schemas.openxmlformats.org/drawingml/2006/main" noGrp="1"/>
          </p:cNvSpPr>
          <p:nvPr/>
        </p:nvSpPr>
        <p:spPr>
          <a:xfrm xmlns:a="http://schemas.openxmlformats.org/drawingml/2006/main">
            <a:off x="14001750" y="17907000"/>
            <a:ext cx="1438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1">
                <a:solidFill>
                  <a:srgbClr val="003399"/>
                </a:solidFill>
                <a:latin typeface="Calibri"/>
                <a:ea typeface="Calibri"/>
                <a:cs typeface="Calibri"/>
              </a:defRPr>
            </a:pPr>
            <a:r>
              <a:rPr sz="3600" b="1">
                <a:solidFill>
                  <a:srgbClr val="003399"/>
                </a:solidFill>
                <a:latin typeface="Calibri"/>
                <a:ea typeface="Calibri"/>
                <a:cs typeface="Calibri"/>
              </a:rPr>
              <a:t>COMPUTED MODEL OUTCOMES</a:t>
            </a:r>
          </a:p>
        </p:txBody>
      </p:sp>
      <p:sp>
        <p:nvSpPr>
          <p:cNvPr id="29" name="main-result-prompt">
            <a:extLst xmlns:a="http://schemas.openxmlformats.org/drawingml/2006/main">
              <a:ext uri="{FF2B5EF4-FFF2-40B4-BE49-F238E27FC236}">
                <a16:creationId xmlns:a16="http://schemas.microsoft.com/office/drawing/2014/main" id="{20FD9DFC-1B88-4B17-A251-EA9C62ACEF56}"/>
              </a:ext>
            </a:extLst>
          </p:cNvPr>
          <p:cNvSpPr>
            <a:spLocks xmlns:a="http://schemas.openxmlformats.org/drawingml/2006/main" noGrp="1"/>
          </p:cNvSpPr>
          <p:nvPr/>
        </p:nvSpPr>
        <p:spPr>
          <a:xfrm xmlns:a="http://schemas.openxmlformats.org/drawingml/2006/main">
            <a:off x="14239875" y="21105495"/>
            <a:ext cx="1432425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2925" b="0">
                <a:solidFill>
                  <a:srgbClr val="56616B"/>
                </a:solidFill>
                <a:latin typeface="Calibri"/>
                <a:ea typeface="Calibri"/>
                <a:cs typeface="Calibri"/>
              </a:defRPr>
            </a:pPr>
            <a:r>
              <a:rPr sz="2925" b="0">
                <a:solidFill>
                  <a:srgbClr val="56616B"/>
                </a:solidFill>
                <a:latin typeface="Calibri"/>
                <a:ea typeface="Calibri"/>
                <a:cs typeface="Calibri"/>
              </a:rPr>
              <a:t/>
            </a:r>
          </a:p>
        </p:txBody>
      </p:sp>
      <p:sp>
        <p:nvSpPr>
          <p:cNvPr id="30" name="result-caption">
            <a:extLst xmlns:a="http://schemas.openxmlformats.org/drawingml/2006/main">
              <a:ext uri="{FF2B5EF4-FFF2-40B4-BE49-F238E27FC236}">
                <a16:creationId xmlns:a16="http://schemas.microsoft.com/office/drawing/2014/main" id="{C7A388AE-9A9C-4C69-A215-69F12E632900}"/>
              </a:ext>
            </a:extLst>
          </p:cNvPr>
          <p:cNvSpPr>
            <a:spLocks xmlns:a="http://schemas.openxmlformats.org/drawingml/2006/main" noGrp="1"/>
          </p:cNvSpPr>
          <p:nvPr/>
        </p:nvSpPr>
        <p:spPr>
          <a:xfrm xmlns:a="http://schemas.openxmlformats.org/drawingml/2006/main">
            <a:off x="13335000" y="24241125"/>
            <a:ext cx="16134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75" b="0">
                <a:solidFill>
                  <a:srgbClr val="212A33"/>
                </a:solidFill>
                <a:latin typeface="Calibri"/>
                <a:ea typeface="Calibri"/>
                <a:cs typeface="Calibri"/>
              </a:defRPr>
            </a:pPr>
            <a:r>
              <a:rPr sz="3075" b="0">
                <a:solidFill>
                  <a:srgbClr val="212A33"/>
                </a:solidFill>
                <a:latin typeface="Calibri"/>
                <a:ea typeface="Calibri"/>
                <a:cs typeface="Calibri"/>
              </a:rPr>
              <a:t>Figure 2. Strong cost 1: HH gives revenue 6, W=7 and access 2/3. HS/SH give 4, 4 and 1/3. SS gives 0, 0 and 0. Every mixed pair is also an equilibrium.</a:t>
            </a:r>
          </a:p>
          <a:p xmlns:a="http://schemas.openxmlformats.org/drawingml/2006/main">
            <a:pPr algn="l">
              <a:buNone/>
              <a:defRPr sz="3075" b="0">
                <a:solidFill>
                  <a:srgbClr val="212A33"/>
                </a:solidFill>
                <a:latin typeface="Calibri"/>
                <a:ea typeface="Calibri"/>
                <a:cs typeface="Calibri"/>
              </a:defRPr>
            </a:pPr>
            <a:r>
              <a:rPr sz="3075" b="0">
                <a:solidFill>
                  <a:srgbClr val="212A33"/>
                </a:solidFill>
                <a:latin typeface="Calibri"/>
                <a:ea typeface="Calibri"/>
                <a:cs typeface="Calibri"/>
              </a:rPr>
              <a:t>I ran all eight cells in Colab on 6 October at 11:08 UTC. Checks passed for 14,406 bid deviations, four Nashpy cases and 121 mixed pairs. Values and costs are assumed.</a:t>
            </a:r>
          </a:p>
        </p:txBody>
      </p:sp>
      <p:sp>
        <p:nvSpPr>
          <p:cNvPr id="31" name="impact-title">
            <a:extLst xmlns:a="http://schemas.openxmlformats.org/drawingml/2006/main">
              <a:ext uri="{FF2B5EF4-FFF2-40B4-BE49-F238E27FC236}">
                <a16:creationId xmlns:a16="http://schemas.microsoft.com/office/drawing/2014/main" id="{7974BDE9-47C8-4976-9EB0-1D99D2AD436D}"/>
              </a:ext>
            </a:extLst>
          </p:cNvPr>
          <p:cNvSpPr>
            <a:spLocks xmlns:a="http://schemas.openxmlformats.org/drawingml/2006/main" noGrp="1"/>
          </p:cNvSpPr>
          <p:nvPr/>
        </p:nvSpPr>
        <p:spPr>
          <a:xfrm xmlns:a="http://schemas.openxmlformats.org/drawingml/2006/main">
            <a:off x="30421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4650" b="1">
                <a:solidFill>
                  <a:srgbClr val="003399"/>
                </a:solidFill>
                <a:latin typeface="Calibri"/>
                <a:ea typeface="Calibri"/>
                <a:cs typeface="Calibri"/>
              </a:defRPr>
            </a:pPr>
            <a:r>
              <a:rPr sz="4650" b="1">
                <a:solidFill>
                  <a:srgbClr val="003399"/>
                </a:solidFill>
                <a:latin typeface="Calibri"/>
                <a:ea typeface="Calibri"/>
                <a:cs typeface="Calibri"/>
              </a:rPr>
              <a:t>03   Impact &amp; dialogue</a:t>
            </a:r>
          </a:p>
        </p:txBody>
      </p:sp>
      <p:sp>
        <p:nvSpPr>
          <p:cNvPr id="32" name="impact-title-rule">
            <a:extLst xmlns:a="http://schemas.openxmlformats.org/drawingml/2006/main">
              <a:ext uri="{FF2B5EF4-FFF2-40B4-BE49-F238E27FC236}">
                <a16:creationId xmlns:a16="http://schemas.microsoft.com/office/drawing/2014/main" id="{92EF0681-32CB-4E92-B477-91FDD7DB084E}"/>
              </a:ext>
            </a:extLst>
          </p:cNvPr>
          <p:cNvSpPr>
            <a:spLocks xmlns:a="http://schemas.openxmlformats.org/drawingml/2006/main" noGrp="1"/>
          </p:cNvSpPr>
          <p:nvPr/>
        </p:nvSpPr>
        <p:spPr>
          <a:xfrm xmlns:a="http://schemas.openxmlformats.org/drawingml/2006/main">
            <a:off x="30421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33" name="real-world-heading">
            <a:extLst xmlns:a="http://schemas.openxmlformats.org/drawingml/2006/main">
              <a:ext uri="{FF2B5EF4-FFF2-40B4-BE49-F238E27FC236}">
                <a16:creationId xmlns:a16="http://schemas.microsoft.com/office/drawing/2014/main" id="{8D7A544D-17E0-43AC-A769-0DC992E2E072}"/>
              </a:ext>
            </a:extLst>
          </p:cNvPr>
          <p:cNvSpPr>
            <a:spLocks xmlns:a="http://schemas.openxmlformats.org/drawingml/2006/main" noGrp="1"/>
          </p:cNvSpPr>
          <p:nvPr/>
        </p:nvSpPr>
        <p:spPr>
          <a:xfrm xmlns:a="http://schemas.openxmlformats.org/drawingml/2006/main">
            <a:off x="30421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Practical impact: a real-world case</a:t>
            </a:r>
          </a:p>
        </p:txBody>
      </p:sp>
      <p:sp>
        <p:nvSpPr>
          <p:cNvPr id="34" name="real-world">
            <a:extLst xmlns:a="http://schemas.openxmlformats.org/drawingml/2006/main">
              <a:ext uri="{FF2B5EF4-FFF2-40B4-BE49-F238E27FC236}">
                <a16:creationId xmlns:a16="http://schemas.microsoft.com/office/drawing/2014/main" id="{2199F087-3016-48E4-80F0-4F875A71FCDD}"/>
              </a:ext>
            </a:extLst>
          </p:cNvPr>
          <p:cNvSpPr>
            <a:spLocks xmlns:a="http://schemas.openxmlformats.org/drawingml/2006/main" noGrp="1"/>
          </p:cNvSpPr>
          <p:nvPr/>
        </p:nvSpPr>
        <p:spPr>
          <a:xfrm xmlns:a="http://schemas.openxmlformats.org/drawingml/2006/main">
            <a:off x="30421500" y="11906250"/>
            <a:ext cx="11049000" cy="3571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Case: limited tutoring correction capacity for checkable errors. Providers would disclose costs and delivery. Educators would assess learning. Public institutions could support basic correction. Independent reviewers would audit and hear appeals.</a:t>
            </a:r>
          </a:p>
          <a:p xmlns:a="http://schemas.openxmlformats.org/drawingml/2006/main">
            <a:pPr algn="l">
              <a:buNone/>
              <a:defRPr sz="3300" b="0">
                <a:solidFill>
                  <a:srgbClr val="212A33"/>
                </a:solidFill>
                <a:latin typeface="Calibri"/>
                <a:ea typeface="Calibri"/>
                <a:cs typeface="Calibri"/>
              </a:defRPr>
            </a:pPr>
            <a:r>
              <a:rPr sz="3300" b="0">
                <a:solidFill>
                  <a:srgbClr val="212A33"/>
                </a:solidFill>
                <a:latin typeface="Calibri"/>
                <a:ea typeface="Calibri"/>
                <a:cs typeface="Calibri"/>
              </a:rPr>
              <a:t>Paid access can exclude learners and reward avoidable errors. Benefits remain untested.</a:t>
            </a:r>
          </a:p>
        </p:txBody>
      </p:sp>
      <p:sp>
        <p:nvSpPr>
          <p:cNvPr id="35" name="interdisciplinary-heading">
            <a:extLst xmlns:a="http://schemas.openxmlformats.org/drawingml/2006/main">
              <a:ext uri="{FF2B5EF4-FFF2-40B4-BE49-F238E27FC236}">
                <a16:creationId xmlns:a16="http://schemas.microsoft.com/office/drawing/2014/main" id="{1E996ED0-A32A-4617-8E65-E6ED026E62D8}"/>
              </a:ext>
            </a:extLst>
          </p:cNvPr>
          <p:cNvSpPr>
            <a:spLocks xmlns:a="http://schemas.openxmlformats.org/drawingml/2006/main" noGrp="1"/>
          </p:cNvSpPr>
          <p:nvPr/>
        </p:nvSpPr>
        <p:spPr>
          <a:xfrm xmlns:a="http://schemas.openxmlformats.org/drawingml/2006/main">
            <a:off x="30421500" y="158115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p xmlns:a="http://schemas.openxmlformats.org/drawingml/2006/main">
            <a:pPr algn="l">
              <a:buNone/>
              <a:defRPr sz="3375" b="1">
                <a:solidFill>
                  <a:srgbClr val="006633"/>
                </a:solidFill>
                <a:latin typeface="Calibri"/>
                <a:ea typeface="Calibri"/>
                <a:cs typeface="Calibri"/>
              </a:defRPr>
            </a:pPr>
            <a:r>
              <a:rPr sz="3375" b="1">
                <a:solidFill>
                  <a:srgbClr val="006633"/>
                </a:solidFill>
                <a:latin typeface="Calibri"/>
                <a:ea typeface="Calibri"/>
                <a:cs typeface="Calibri"/>
              </a:rPr>
              <a:t>Observed evidence and integration</a:t>
            </a:r>
          </a:p>
        </p:txBody>
      </p:sp>
      <p:sp>
        <p:nvSpPr>
          <p:cNvPr id="36" name="interdisciplinary">
            <a:extLst xmlns:a="http://schemas.openxmlformats.org/drawingml/2006/main">
              <a:ext uri="{FF2B5EF4-FFF2-40B4-BE49-F238E27FC236}">
                <a16:creationId xmlns:a16="http://schemas.microsoft.com/office/drawing/2014/main" id="{91D1D813-AECB-4965-9667-285D2DDCB3E4}"/>
              </a:ext>
            </a:extLst>
          </p:cNvPr>
          <p:cNvSpPr>
            <a:spLocks xmlns:a="http://schemas.openxmlformats.org/drawingml/2006/main" noGrp="1"/>
          </p:cNvSpPr>
          <p:nvPr/>
        </p:nvSpPr>
        <p:spPr>
          <a:xfrm xmlns:a="http://schemas.openxmlformats.org/drawingml/2006/main">
            <a:off x="30421500" y="16573500"/>
            <a:ext cx="11049000" cy="523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0">
                <a:solidFill>
                  <a:srgbClr val="212A33"/>
                </a:solidFill>
                <a:latin typeface="Calibri"/>
                <a:ea typeface="Calibri"/>
                <a:cs typeface="Calibri"/>
              </a:defRPr>
            </a:pPr>
            <a:r>
              <a:rPr sz="3150" b="0">
                <a:solidFill>
                  <a:srgbClr val="212A33"/>
                </a:solidFill>
                <a:latin typeface="Calibri"/>
                <a:ea typeface="Calibri"/>
                <a:cs typeface="Calibri"/>
              </a:rPr>
              <a:t>Observed n=1: the author preferred A, which corrected 17×6=112 to 102, over B, which affirmed 112. Stated WTP was 3 versus 0; no purchase occurred. This one item does not estimate (5,4,3).</a:t>
            </a:r>
          </a:p>
          <a:p xmlns:a="http://schemas.openxmlformats.org/drawingml/2006/main">
            <a:pPr algn="l">
              <a:buNone/>
              <a:defRPr sz="3150" b="0">
                <a:solidFill>
                  <a:srgbClr val="212A33"/>
                </a:solidFill>
                <a:latin typeface="Calibri"/>
                <a:ea typeface="Calibri"/>
                <a:cs typeface="Calibri"/>
              </a:defRPr>
            </a:pPr>
            <a:r>
              <a:rPr sz="3150" b="0">
                <a:solidFill>
                  <a:srgbClr val="212A33"/>
                </a:solidFill>
                <a:latin typeface="Calibri"/>
                <a:ea typeface="Calibri"/>
                <a:cs typeface="Calibri"/>
              </a:rPr>
              <a:t>Observed bids, purchases, app choices and delayed learning each have n=0. Computation checks conditional predictions. Project cues and wording can explain the preference. Accuracy, liking and spending are separate outcomes; demand remains a scenario input.</a:t>
            </a:r>
          </a:p>
        </p:txBody>
      </p:sp>
      <p:sp>
        <p:nvSpPr>
          <p:cNvPr id="37" name="limits-heading">
            <a:extLst xmlns:a="http://schemas.openxmlformats.org/drawingml/2006/main">
              <a:ext uri="{FF2B5EF4-FFF2-40B4-BE49-F238E27FC236}">
                <a16:creationId xmlns:a16="http://schemas.microsoft.com/office/drawing/2014/main" id="{68ADFBED-634F-4EFD-A437-EF921500A3B3}"/>
              </a:ext>
            </a:extLst>
          </p:cNvPr>
          <p:cNvSpPr>
            <a:spLocks xmlns:a="http://schemas.openxmlformats.org/drawingml/2006/main" noGrp="1"/>
          </p:cNvSpPr>
          <p:nvPr/>
        </p:nvSpPr>
        <p:spPr>
          <a:xfrm xmlns:a="http://schemas.openxmlformats.org/drawingml/2006/main">
            <a:off x="30421500" y="22193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Limitations &amp; next test</a:t>
            </a:r>
          </a:p>
        </p:txBody>
      </p:sp>
      <p:sp>
        <p:nvSpPr>
          <p:cNvPr id="38" name="limits">
            <a:extLst xmlns:a="http://schemas.openxmlformats.org/drawingml/2006/main">
              <a:ext uri="{FF2B5EF4-FFF2-40B4-BE49-F238E27FC236}">
                <a16:creationId xmlns:a16="http://schemas.microsoft.com/office/drawing/2014/main" id="{B297720D-E873-4F17-88AF-AF30E5F69FD6}"/>
              </a:ext>
            </a:extLst>
          </p:cNvPr>
          <p:cNvSpPr>
            <a:spLocks xmlns:a="http://schemas.openxmlformats.org/drawingml/2006/main" noGrp="1"/>
          </p:cNvSpPr>
          <p:nvPr/>
        </p:nvSpPr>
        <p:spPr>
          <a:xfrm xmlns:a="http://schemas.openxmlformats.org/drawingml/2006/main">
            <a:off x="30421500" y="22955250"/>
            <a:ext cx="110490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0">
                <a:solidFill>
                  <a:srgbClr val="212A33"/>
                </a:solidFill>
                <a:latin typeface="Calibri"/>
                <a:ea typeface="Calibri"/>
                <a:cs typeface="Calibri"/>
              </a:defRPr>
            </a:pPr>
            <a:r>
              <a:rPr sz="3000" b="0">
                <a:solidFill>
                  <a:srgbClr val="212A33"/>
                </a:solidFill>
                <a:latin typeface="Calibri"/>
                <a:ea typeface="Calibri"/>
                <a:cs typeface="Calibri"/>
              </a:rPr>
              <a:t>Proposed test: match tone and randomize order, assess delayed accuracy, and test purchases. No participant study is scheduled.</a:t>
            </a:r>
          </a:p>
          <a:p xmlns:a="http://schemas.openxmlformats.org/drawingml/2006/main">
            <a:pPr algn="l">
              <a:buNone/>
              <a:defRPr sz="3000" b="0">
                <a:solidFill>
                  <a:srgbClr val="212A33"/>
                </a:solidFill>
                <a:latin typeface="Calibri"/>
                <a:ea typeface="Calibri"/>
                <a:cs typeface="Calibri"/>
              </a:defRPr>
            </a:pPr>
            <a:r>
              <a:rPr sz="3000" b="0">
                <a:solidFill>
                  <a:srgbClr val="212A33"/>
                </a:solidFill>
                <a:latin typeface="Calibri"/>
                <a:ea typeface="Calibri"/>
                <a:cs typeface="Calibri"/>
              </a:rPr>
              <a:t>A synthetic 2–1 vote selects a service goal. Basic correction, minority input and appeal are proposed. SDG 4 effects remain unmeasured.</a:t>
            </a:r>
          </a:p>
        </p:txBody>
      </p:sp>
      <p:sp>
        <p:nvSpPr>
          <p:cNvPr id="39" name="dates">
            <a:extLst xmlns:a="http://schemas.openxmlformats.org/drawingml/2006/main">
              <a:ext uri="{FF2B5EF4-FFF2-40B4-BE49-F238E27FC236}">
                <a16:creationId xmlns:a16="http://schemas.microsoft.com/office/drawing/2014/main" id="{EA157D18-CC9B-4A0B-91A5-3BE26B8F384A}"/>
              </a:ext>
            </a:extLst>
          </p:cNvPr>
          <p:cNvSpPr>
            <a:spLocks xmlns:a="http://schemas.openxmlformats.org/drawingml/2006/main" noGrp="1"/>
          </p:cNvSpPr>
          <p:nvPr/>
        </p:nvSpPr>
        <p:spPr>
          <a:xfrm xmlns:a="http://schemas.openxmlformats.org/drawingml/2006/main">
            <a:off x="30421517" y="26146125"/>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006633"/>
                </a:solidFill>
                <a:latin typeface="Calibri"/>
                <a:ea typeface="Calibri"/>
                <a:cs typeface="Calibri"/>
              </a:defRPr>
            </a:pPr>
            <a:r>
              <a:rPr sz="2550" b="1">
                <a:solidFill>
                  <a:srgbClr val="006633"/>
                </a:solidFill>
                <a:latin typeface="Calibri"/>
                <a:ea typeface="Calibri"/>
                <a:cs typeface="Calibri"/>
              </a:rPr>
              <a:t>28 SEP  Research symposium, Session B</a:t>
            </a:r>
          </a:p>
          <a:p xmlns:a="http://schemas.openxmlformats.org/drawingml/2006/main">
            <a:pPr algn="l">
              <a:buNone/>
              <a:defRPr sz="2550" b="1">
                <a:solidFill>
                  <a:srgbClr val="006633"/>
                </a:solidFill>
                <a:latin typeface="Calibri"/>
                <a:ea typeface="Calibri"/>
                <a:cs typeface="Calibri"/>
              </a:defRPr>
            </a:pPr>
            <a:r>
              <a:rPr sz="2550" b="1">
                <a:solidFill>
                  <a:srgbClr val="006633"/>
                </a:solidFill>
                <a:latin typeface="Calibri"/>
                <a:ea typeface="Calibri"/>
                <a:cs typeface="Calibri"/>
              </a:rPr>
              <a:t>6 OCT  Final author Colab run: all checks PASS</a:t>
            </a:r>
          </a:p>
        </p:txBody>
      </p:sp>
      <p:sp>
        <p:nvSpPr>
          <p:cNvPr id="40" name="footer-rule">
            <a:extLst xmlns:a="http://schemas.openxmlformats.org/drawingml/2006/main">
              <a:ext uri="{FF2B5EF4-FFF2-40B4-BE49-F238E27FC236}">
                <a16:creationId xmlns:a16="http://schemas.microsoft.com/office/drawing/2014/main" id="{24CE48EC-E121-4C2A-81BE-8C70F6F42833}"/>
              </a:ext>
            </a:extLst>
          </p:cNvPr>
          <p:cNvSpPr>
            <a:spLocks xmlns:a="http://schemas.openxmlformats.org/drawingml/2006/main" noGrp="1"/>
          </p:cNvSpPr>
          <p:nvPr/>
        </p:nvSpPr>
        <p:spPr>
          <a:xfrm xmlns:a="http://schemas.openxmlformats.org/drawingml/2006/main">
            <a:off x="1333500" y="27098625"/>
            <a:ext cx="40137017"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41" name="ack-heading">
            <a:extLst xmlns:a="http://schemas.openxmlformats.org/drawingml/2006/main">
              <a:ext uri="{FF2B5EF4-FFF2-40B4-BE49-F238E27FC236}">
                <a16:creationId xmlns:a16="http://schemas.microsoft.com/office/drawing/2014/main" id="{CC1B0A45-EEBC-4636-8C8B-F880435533DE}"/>
              </a:ext>
            </a:extLst>
          </p:cNvPr>
          <p:cNvSpPr>
            <a:spLocks xmlns:a="http://schemas.openxmlformats.org/drawingml/2006/main" noGrp="1"/>
          </p:cNvSpPr>
          <p:nvPr/>
        </p:nvSpPr>
        <p:spPr>
          <a:xfrm xmlns:a="http://schemas.openxmlformats.org/drawingml/2006/main">
            <a:off x="1333500" y="273367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Acknowledgments</a:t>
            </a:r>
          </a:p>
        </p:txBody>
      </p:sp>
      <p:sp>
        <p:nvSpPr>
          <p:cNvPr id="42" name="ack">
            <a:extLst xmlns:a="http://schemas.openxmlformats.org/drawingml/2006/main">
              <a:ext uri="{FF2B5EF4-FFF2-40B4-BE49-F238E27FC236}">
                <a16:creationId xmlns:a16="http://schemas.microsoft.com/office/drawing/2014/main" id="{1C589FA2-42B8-4C7A-9C87-A446B7866781}"/>
              </a:ext>
            </a:extLst>
          </p:cNvPr>
          <p:cNvSpPr>
            <a:spLocks xmlns:a="http://schemas.openxmlformats.org/drawingml/2006/main" noGrp="1"/>
          </p:cNvSpPr>
          <p:nvPr/>
        </p:nvSpPr>
        <p:spPr>
          <a:xfrm xmlns:a="http://schemas.openxmlformats.org/drawingml/2006/main">
            <a:off x="1333500" y="27908250"/>
            <a:ext cx="11049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212A33"/>
                </a:solidFill>
                <a:latin typeface="Calibri"/>
                <a:ea typeface="Calibri"/>
                <a:cs typeface="Calibri"/>
              </a:defRPr>
            </a:pPr>
            <a:r>
              <a:rPr sz="2400" b="0">
                <a:solidFill>
                  <a:srgbClr val="212A33"/>
                </a:solidFill>
                <a:latin typeface="Calibri"/>
                <a:ea typeface="Calibri"/>
                <a:cs typeface="Calibri"/>
              </a:rPr>
              <a:t>Yongzhuo Wu: model decision and verification. Prof. Luyao Zhang: course guidance. Qingyue Liu and Feiyu Li: PS2 reviews. Han Zhang: benchmark suggestion. AI assisted with code, interface, figure and poster. Full credits are in the article.</a:t>
            </a:r>
          </a:p>
        </p:txBody>
      </p:sp>
      <p:sp>
        <p:nvSpPr>
          <p:cNvPr id="43" name="references-heading">
            <a:extLst xmlns:a="http://schemas.openxmlformats.org/drawingml/2006/main">
              <a:ext uri="{FF2B5EF4-FFF2-40B4-BE49-F238E27FC236}">
                <a16:creationId xmlns:a16="http://schemas.microsoft.com/office/drawing/2014/main" id="{E7EA3AAE-744F-4F03-A737-D3056A093795}"/>
              </a:ext>
            </a:extLst>
          </p:cNvPr>
          <p:cNvSpPr>
            <a:spLocks xmlns:a="http://schemas.openxmlformats.org/drawingml/2006/main" noGrp="1"/>
          </p:cNvSpPr>
          <p:nvPr/>
        </p:nvSpPr>
        <p:spPr>
          <a:xfrm xmlns:a="http://schemas.openxmlformats.org/drawingml/2006/main">
            <a:off x="13335000" y="27336750"/>
            <a:ext cx="1419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3375" b="1">
                <a:solidFill>
                  <a:srgbClr val="003399"/>
                </a:solidFill>
                <a:latin typeface="Calibri"/>
                <a:ea typeface="Calibri"/>
                <a:cs typeface="Calibri"/>
              </a:defRPr>
            </a:pPr>
            <a:r>
              <a:rPr sz="3375" b="1">
                <a:solidFill>
                  <a:srgbClr val="003399"/>
                </a:solidFill>
                <a:latin typeface="Calibri"/>
                <a:ea typeface="Calibri"/>
                <a:cs typeface="Calibri"/>
              </a:rPr>
              <a:t>Selected references</a:t>
            </a:r>
          </a:p>
        </p:txBody>
      </p:sp>
      <p:sp>
        <p:nvSpPr>
          <p:cNvPr id="44" name="references">
            <a:extLst xmlns:a="http://schemas.openxmlformats.org/drawingml/2006/main">
              <a:ext uri="{FF2B5EF4-FFF2-40B4-BE49-F238E27FC236}">
                <a16:creationId xmlns:a16="http://schemas.microsoft.com/office/drawing/2014/main" id="{0ECEF328-5F03-4179-A929-2458DB1F400F}"/>
              </a:ext>
            </a:extLst>
          </p:cNvPr>
          <p:cNvSpPr>
            <a:spLocks xmlns:a="http://schemas.openxmlformats.org/drawingml/2006/main" noGrp="1"/>
          </p:cNvSpPr>
          <p:nvPr/>
        </p:nvSpPr>
        <p:spPr>
          <a:xfrm xmlns:a="http://schemas.openxmlformats.org/drawingml/2006/main">
            <a:off x="13335000" y="27908250"/>
            <a:ext cx="16134016"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212A33"/>
                </a:solidFill>
                <a:latin typeface="Calibri"/>
                <a:ea typeface="Calibri"/>
                <a:cs typeface="Calibri"/>
              </a:defRPr>
            </a:pPr>
            <a:r>
              <a:rPr sz="2025" b="0">
                <a:solidFill>
                  <a:srgbClr val="212A33"/>
                </a:solidFill>
                <a:latin typeface="Calibri"/>
                <a:ea typeface="Calibri"/>
                <a:cs typeface="Calibri"/>
              </a:rPr>
              <a:t>[1] Cheng et al. 2026. Science 391, eaec8352. doi:10.1126/science.aec8352</a:t>
            </a:r>
          </a:p>
          <a:p xmlns:a="http://schemas.openxmlformats.org/drawingml/2006/main">
            <a:pPr algn="l">
              <a:buNone/>
              <a:defRPr sz="2025" b="0">
                <a:solidFill>
                  <a:srgbClr val="212A33"/>
                </a:solidFill>
                <a:latin typeface="Calibri"/>
                <a:ea typeface="Calibri"/>
                <a:cs typeface="Calibri"/>
              </a:defRPr>
            </a:pPr>
            <a:r>
              <a:rPr sz="2025" b="0">
                <a:solidFill>
                  <a:srgbClr val="212A33"/>
                </a:solidFill>
                <a:latin typeface="Calibri"/>
                <a:ea typeface="Calibri"/>
                <a:cs typeface="Calibri"/>
              </a:rPr>
              <a:t>[2] Nash. 1950. PNAS 36, 48–49. [3] Vickrey. 1961. J. Finance 16, 8–37.</a:t>
            </a:r>
          </a:p>
          <a:p xmlns:a="http://schemas.openxmlformats.org/drawingml/2006/main">
            <a:pPr algn="l">
              <a:buNone/>
              <a:defRPr sz="2025" b="0">
                <a:solidFill>
                  <a:srgbClr val="212A33"/>
                </a:solidFill>
                <a:latin typeface="Calibri"/>
                <a:ea typeface="Calibri"/>
                <a:cs typeface="Calibri"/>
              </a:defRPr>
            </a:pPr>
            <a:r>
              <a:rPr sz="2025" b="0">
                <a:solidFill>
                  <a:srgbClr val="212A33"/>
                </a:solidFill>
                <a:latin typeface="Calibri"/>
                <a:ea typeface="Calibri"/>
                <a:cs typeface="Calibri"/>
              </a:rPr>
              <a:t>[4] Miller et al. 2005. Management Science 51, 1359–1373. doi:10.1287/mnsc.1050.0379</a:t>
            </a:r>
          </a:p>
          <a:p xmlns:a="http://schemas.openxmlformats.org/drawingml/2006/main">
            <a:pPr algn="l">
              <a:buNone/>
              <a:defRPr sz="2025" b="0">
                <a:solidFill>
                  <a:srgbClr val="212A33"/>
                </a:solidFill>
                <a:latin typeface="Calibri"/>
                <a:ea typeface="Calibri"/>
                <a:cs typeface="Calibri"/>
              </a:defRPr>
            </a:pPr>
            <a:r>
              <a:rPr sz="2025" b="0">
                <a:solidFill>
                  <a:srgbClr val="212A33"/>
                </a:solidFill>
                <a:latin typeface="Calibri"/>
                <a:ea typeface="Calibri"/>
                <a:cs typeface="Calibri"/>
              </a:rPr>
              <a:t>[5] Witkowski et al. 2013. HCOMP 1, 190–197. doi:10.1609/hcomp.v1i1.13089</a:t>
            </a:r>
          </a:p>
        </p:txBody>
      </p:sp>
      <p:sp>
        <p:nvSpPr>
          <p:cNvPr id="45" name="access-heading">
            <a:extLst xmlns:a="http://schemas.openxmlformats.org/drawingml/2006/main">
              <a:ext uri="{FF2B5EF4-FFF2-40B4-BE49-F238E27FC236}">
                <a16:creationId xmlns:a16="http://schemas.microsoft.com/office/drawing/2014/main" id="{49F540C3-5DD7-4CE8-9BCD-20A72A498083}"/>
              </a:ext>
            </a:extLst>
          </p:cNvPr>
          <p:cNvSpPr>
            <a:spLocks xmlns:a="http://schemas.openxmlformats.org/drawingml/2006/main" noGrp="1"/>
          </p:cNvSpPr>
          <p:nvPr/>
        </p:nvSpPr>
        <p:spPr>
          <a:xfrm xmlns:a="http://schemas.openxmlformats.org/drawingml/2006/main">
            <a:off x="30421500" y="273367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buNone/>
              <a:defRPr sz="2400" b="1">
                <a:solidFill>
                  <a:srgbClr val="003399"/>
                </a:solidFill>
                <a:latin typeface="Calibri"/>
                <a:ea typeface="Calibri"/>
                <a:cs typeface="Calibri"/>
              </a:defRPr>
            </a:pPr>
            <a:r>
              <a:rPr sz="2400" b="1">
                <a:solidFill>
                  <a:srgbClr val="003399"/>
                </a:solidFill>
                <a:latin typeface="Calibri"/>
                <a:ea typeface="Calibri"/>
                <a:cs typeface="Calibri"/>
              </a:rPr>
              <a:t>OPEN MATERIALS</a:t>
            </a:r>
          </a:p>
        </p:txBody>
      </p:sp>
      <p:sp>
        <p:nvSpPr>
          <p:cNvPr id="46" name="access-links">
            <a:extLst xmlns:a="http://schemas.openxmlformats.org/drawingml/2006/main">
              <a:ext uri="{FF2B5EF4-FFF2-40B4-BE49-F238E27FC236}">
                <a16:creationId xmlns:a16="http://schemas.microsoft.com/office/drawing/2014/main" id="{35C264DA-792D-48F7-AE3C-F21A5E9ADD8F}"/>
              </a:ext>
            </a:extLst>
          </p:cNvPr>
          <p:cNvSpPr>
            <a:spLocks xmlns:a="http://schemas.openxmlformats.org/drawingml/2006/main" noGrp="1"/>
          </p:cNvSpPr>
          <p:nvPr/>
        </p:nvSpPr>
        <p:spPr>
          <a:xfrm xmlns:a="http://schemas.openxmlformats.org/drawingml/2006/main">
            <a:off x="30421517" y="27908250"/>
            <a:ext cx="78581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212A33"/>
                </a:solidFill>
                <a:latin typeface="Calibri"/>
                <a:ea typeface="Calibri"/>
                <a:cs typeface="Calibri"/>
              </a:defRPr>
            </a:pPr>
            <a:r>
              <a:rPr sz="2175" b="0">
                <a:solidFill>
                  <a:srgbClr val="212A33"/>
                </a:solidFill>
                <a:latin typeface="Calibri"/>
                <a:ea typeface="Calibri"/>
                <a:cs typeface="Calibri"/>
                <a:hlinkClick xmlns:r="http://schemas.openxmlformats.org/officeDocument/2006/relationships" r:id="Rb145dd7bc7a54ed0"/>
              </a:rPr>
              <a:t>HF: huggingface.co/spaces/</a:t>
            </a:r>
          </a:p>
          <a:p xmlns:a="http://schemas.openxmlformats.org/drawingml/2006/main">
            <a:pPr algn="l">
              <a:buNone/>
              <a:defRPr sz="2175" b="0">
                <a:solidFill>
                  <a:srgbClr val="212A33"/>
                </a:solidFill>
                <a:latin typeface="Calibri"/>
                <a:ea typeface="Calibri"/>
                <a:cs typeface="Calibri"/>
              </a:defRPr>
            </a:pPr>
            <a:r>
              <a:rPr sz="2175" b="0">
                <a:solidFill>
                  <a:srgbClr val="212A33"/>
                </a:solidFill>
                <a:latin typeface="Calibri"/>
                <a:ea typeface="Calibri"/>
                <a:cs typeface="Calibri"/>
              </a:rPr>
              <a:t>dku-comsci-econ206-2026/AI-Sycophancy</a:t>
            </a:r>
          </a:p>
          <a:p xmlns:a="http://schemas.openxmlformats.org/drawingml/2006/main">
            <a:pPr algn="l">
              <a:buNone/>
              <a:defRPr sz="2175" b="0">
                <a:solidFill>
                  <a:srgbClr val="212A33"/>
                </a:solidFill>
                <a:latin typeface="Calibri"/>
                <a:ea typeface="Calibri"/>
                <a:cs typeface="Calibri"/>
              </a:defRPr>
            </a:pPr>
            <a:r>
              <a:rPr sz="2175" b="0">
                <a:solidFill>
                  <a:srgbClr val="212A33"/>
                </a:solidFill>
                <a:latin typeface="Calibri"/>
                <a:ea typeface="Calibri"/>
                <a:cs typeface="Calibri"/>
                <a:hlinkClick xmlns:r="http://schemas.openxmlformats.org/officeDocument/2006/relationships" r:id="R5b1c2b8a18c64ac0"/>
              </a:rPr>
              <a:t>GitHub: dku-comsci-econ206-Autumn2026/</a:t>
            </a:r>
          </a:p>
          <a:p xmlns:a="http://schemas.openxmlformats.org/drawingml/2006/main">
            <a:pPr algn="l">
              <a:buNone/>
              <a:defRPr sz="2175" b="0">
                <a:solidFill>
                  <a:srgbClr val="212A33"/>
                </a:solidFill>
                <a:latin typeface="Calibri"/>
                <a:ea typeface="Calibri"/>
                <a:cs typeface="Calibri"/>
              </a:defRPr>
            </a:pPr>
            <a:r>
              <a:rPr sz="2175" b="0">
                <a:solidFill>
                  <a:srgbClr val="212A33"/>
                </a:solidFill>
                <a:latin typeface="Calibri"/>
                <a:ea typeface="Calibri"/>
                <a:cs typeface="Calibri"/>
              </a:rPr>
              <a:t>PS2-FP1-Yongzhuo-Wu</a:t>
            </a:r>
          </a:p>
          <a:p xmlns:a="http://schemas.openxmlformats.org/drawingml/2006/main">
            <a:pPr algn="l">
              <a:buNone/>
              <a:defRPr sz="2175" b="0">
                <a:solidFill>
                  <a:srgbClr val="212A33"/>
                </a:solidFill>
                <a:latin typeface="Calibri"/>
                <a:ea typeface="Calibri"/>
                <a:cs typeface="Calibri"/>
              </a:defRPr>
            </a:pPr>
            <a:r>
              <a:rPr sz="2175" b="0">
                <a:solidFill>
                  <a:srgbClr val="212A33"/>
                </a:solidFill>
                <a:latin typeface="Calibri"/>
                <a:ea typeface="Calibri"/>
                <a:cs typeface="Calibri"/>
              </a:rPr>
              <a:t>Submission release: ps2</a:t>
            </a:r>
          </a:p>
        </p:txBody>
      </p:sp>
      <p:graphicFrame>
        <p:nvGraphicFramePr>
          <p:cNvPr id="115" name=""/>
          <p:cNvGraphicFramePr/>
          <p:nvPr/>
        </p:nvGraphicFramePr>
        <p:xfrm>
          <a:off xmlns:a="http://schemas.openxmlformats.org/drawingml/2006/main" x="13858875" y="19002375"/>
          <a:ext xmlns:a="http://schemas.openxmlformats.org/drawingml/2006/main" cx="15049500" cy="4095750"/>
        </p:xfrm>
        <a:graphic xmlns:a="http://schemas.openxmlformats.org/drawingml/2006/main">
          <a:graphicData uri="http://schemas.openxmlformats.org/drawingml/2006/table">
            <a:tbl>
              <a:tblPr firstRow="1" bandRow="0"/>
              <a:tblGrid>
                <a:gridCol w="3190875"/>
                <a:gridCol w="1619250"/>
                <a:gridCol w="2619375"/>
                <a:gridCol w="2667000"/>
                <a:gridCol w="2714625"/>
                <a:gridCol w="2238375"/>
              </a:tblGrid>
              <a:tr h="1023938">
                <a:tc>
                  <a:txBody>
                    <a:bodyPr lIns="95250" tIns="114300" rIns="95250" bIns="95250">
                      <a:noAutofit/>
                    </a:bodyPr>
                    <a:lstStyle/>
                    <a:p>
                      <a:r>
                        <a:rPr sz="2700" b="1">
                          <a:solidFill>
                            <a:srgbClr val="FFFFFF"/>
                          </a:solidFill>
                          <a:latin typeface="Calibri"/>
                          <a:ea typeface="Calibri"/>
                          <a:cs typeface="Calibri"/>
                        </a:rPr>
                        <a:t>Case</a:t>
                      </a:r>
                    </a:p>
                  </a:txBody>
                  <a:tcPr marL="91440" marR="91440" marT="45720" marB="45720" anchor="ctr">
                    <a:solidFill>
                      <a:srgbClr val="003399"/>
                    </a:solidFill>
                  </a:tcPr>
                </a:tc>
                <a:tc>
                  <a:txBody>
                    <a:bodyPr lIns="95250" tIns="114300" rIns="95250" bIns="95250">
                      <a:noAutofit/>
                    </a:bodyPr>
                    <a:lstStyle/>
                    <a:p>
                      <a:r>
                        <a:rPr sz="2700" b="1">
                          <a:solidFill>
                            <a:srgbClr val="FFFFFF"/>
                          </a:solidFill>
                          <a:latin typeface="Calibri"/>
                          <a:ea typeface="Calibri"/>
                          <a:cs typeface="Calibri"/>
                        </a:rPr>
                        <a:t>Pure NE</a:t>
                      </a:r>
                    </a:p>
                  </a:txBody>
                  <a:tcPr marL="91440" marR="91440" marT="45720" marB="45720" anchor="ctr">
                    <a:solidFill>
                      <a:srgbClr val="003399"/>
                    </a:solidFill>
                  </a:tcPr>
                </a:tc>
                <a:tc>
                  <a:txBody>
                    <a:bodyPr lIns="95250" tIns="114300" rIns="95250" bIns="95250">
                      <a:noAutofit/>
                    </a:bodyPr>
                    <a:lstStyle/>
                    <a:p>
                      <a:r>
                        <a:rPr sz="2700" b="1">
                          <a:solidFill>
                            <a:srgbClr val="FFFFFF"/>
                          </a:solidFill>
                          <a:latin typeface="Calibri"/>
                          <a:ea typeface="Calibri"/>
                          <a:cs typeface="Calibri"/>
                        </a:rPr>
                        <a:t>App profit</a:t>
                      </a:r>
                    </a:p>
                  </a:txBody>
                  <a:tcPr marL="91440" marR="91440" marT="45720" marB="45720" anchor="ctr">
                    <a:solidFill>
                      <a:srgbClr val="003399"/>
                    </a:solidFill>
                  </a:tcPr>
                </a:tc>
                <a:tc>
                  <a:txBody>
                    <a:bodyPr lIns="95250" tIns="114300" rIns="95250" bIns="95250">
                      <a:noAutofit/>
                    </a:bodyPr>
                    <a:lstStyle/>
                    <a:p>
                      <a:r>
                        <a:rPr sz="2700" b="1">
                          <a:solidFill>
                            <a:srgbClr val="FFFFFF"/>
                          </a:solidFill>
                          <a:latin typeface="Calibri"/>
                          <a:ea typeface="Calibri"/>
                          <a:cs typeface="Calibri"/>
                        </a:rPr>
                        <a:t>Revenue</a:t>
                      </a:r>
                    </a:p>
                  </a:txBody>
                  <a:tcPr marL="91440" marR="91440" marT="45720" marB="45720" anchor="ctr">
                    <a:solidFill>
                      <a:srgbClr val="003399"/>
                    </a:solidFill>
                  </a:tcPr>
                </a:tc>
                <a:tc>
                  <a:txBody>
                    <a:bodyPr lIns="95250" tIns="114300" rIns="95250" bIns="95250">
                      <a:noAutofit/>
                    </a:bodyPr>
                    <a:lstStyle/>
                    <a:p>
                      <a:r>
                        <a:rPr sz="2700" b="1">
                          <a:solidFill>
                            <a:srgbClr val="FFFFFF"/>
                          </a:solidFill>
                          <a:latin typeface="Calibri"/>
                          <a:ea typeface="Calibri"/>
                          <a:cs typeface="Calibri"/>
                        </a:rPr>
                        <a:t>W, c=0</a:t>
                      </a:r>
                    </a:p>
                  </a:txBody>
                  <a:tcPr marL="91440" marR="91440" marT="45720" marB="45720" anchor="ctr">
                    <a:solidFill>
                      <a:srgbClr val="003399"/>
                    </a:solidFill>
                  </a:tcPr>
                </a:tc>
                <a:tc>
                  <a:txBody>
                    <a:bodyPr lIns="95250" tIns="114300" rIns="95250" bIns="95250">
                      <a:noAutofit/>
                    </a:bodyPr>
                    <a:lstStyle/>
                    <a:p>
                      <a:r>
                        <a:rPr sz="2700" b="1">
                          <a:solidFill>
                            <a:srgbClr val="FFFFFF"/>
                          </a:solidFill>
                          <a:latin typeface="Calibri"/>
                          <a:ea typeface="Calibri"/>
                          <a:cs typeface="Calibri"/>
                        </a:rPr>
                        <a:t>Access</a:t>
                      </a:r>
                    </a:p>
                  </a:txBody>
                  <a:tcPr marL="91440" marR="91440" marT="45720" marB="45720" anchor="ctr">
                    <a:solidFill>
                      <a:srgbClr val="003399"/>
                    </a:solidFill>
                  </a:tcPr>
                </a:tc>
              </a:tr>
              <a:tr h="1023938">
                <a:tc>
                  <a:txBody>
                    <a:bodyPr lIns="95250" tIns="114300" rIns="95250" bIns="95250">
                      <a:noAutofit/>
                    </a:bodyPr>
                    <a:lstStyle/>
                    <a:p>
                      <a:r>
                        <a:rPr sz="2700" b="1">
                          <a:solidFill>
                            <a:srgbClr val="212A33"/>
                          </a:solidFill>
                          <a:latin typeface="Calibri"/>
                          <a:ea typeface="Calibri"/>
                          <a:cs typeface="Calibri"/>
                        </a:rPr>
                        <a:t>No service</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SS</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(4,4)</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0/3</a:t>
                      </a:r>
                    </a:p>
                  </a:txBody>
                  <a:tcPr marL="91440" marR="91440" marT="45720" marB="45720" anchor="ctr">
                    <a:solidFill>
                      <a:srgbClr val="FFFFFF"/>
                    </a:solidFill>
                  </a:tcPr>
                </a:tc>
              </a:tr>
              <a:tr h="1023938">
                <a:tc>
                  <a:txBody>
                    <a:bodyPr lIns="95250" tIns="114300" rIns="95250" bIns="95250">
                      <a:noAutofit/>
                    </a:bodyPr>
                    <a:lstStyle/>
                    <a:p>
                      <a:r>
                        <a:rPr sz="2700" b="1">
                          <a:solidFill>
                            <a:srgbClr val="212A33"/>
                          </a:solidFill>
                          <a:latin typeface="Calibri"/>
                          <a:ea typeface="Calibri"/>
                          <a:cs typeface="Calibri"/>
                        </a:rPr>
                        <a:t>Strong, c=0</a:t>
                      </a:r>
                    </a:p>
                  </a:txBody>
                  <a:tcPr marL="91440" marR="91440" marT="45720" marB="45720" anchor="ctr">
                    <a:solidFill>
                      <a:srgbClr val="F4F6F7"/>
                    </a:solidFill>
                  </a:tcPr>
                </a:tc>
                <a:tc>
                  <a:txBody>
                    <a:bodyPr lIns="95250" tIns="114300" rIns="95250" bIns="95250">
                      <a:noAutofit/>
                    </a:bodyPr>
                    <a:lstStyle/>
                    <a:p>
                      <a:r>
                        <a:rPr sz="2700" b="0">
                          <a:solidFill>
                            <a:srgbClr val="212A33"/>
                          </a:solidFill>
                          <a:latin typeface="Calibri"/>
                          <a:ea typeface="Calibri"/>
                          <a:cs typeface="Calibri"/>
                        </a:rPr>
                        <a:t>HH</a:t>
                      </a:r>
                    </a:p>
                  </a:txBody>
                  <a:tcPr marL="91440" marR="91440" marT="45720" marB="45720" anchor="ctr">
                    <a:solidFill>
                      <a:srgbClr val="F4F6F7"/>
                    </a:solidFill>
                  </a:tcPr>
                </a:tc>
                <a:tc>
                  <a:txBody>
                    <a:bodyPr lIns="95250" tIns="114300" rIns="95250" bIns="95250">
                      <a:noAutofit/>
                    </a:bodyPr>
                    <a:lstStyle/>
                    <a:p>
                      <a:r>
                        <a:rPr sz="2700" b="0">
                          <a:solidFill>
                            <a:srgbClr val="212A33"/>
                          </a:solidFill>
                          <a:latin typeface="Calibri"/>
                          <a:ea typeface="Calibri"/>
                          <a:cs typeface="Calibri"/>
                        </a:rPr>
                        <a:t>(6,6)</a:t>
                      </a:r>
                    </a:p>
                  </a:txBody>
                  <a:tcPr marL="91440" marR="91440" marT="45720" marB="45720" anchor="ctr">
                    <a:solidFill>
                      <a:srgbClr val="F4F6F7"/>
                    </a:solidFill>
                  </a:tcPr>
                </a:tc>
                <a:tc>
                  <a:txBody>
                    <a:bodyPr lIns="95250" tIns="114300" rIns="95250" bIns="95250">
                      <a:noAutofit/>
                    </a:bodyPr>
                    <a:lstStyle/>
                    <a:p>
                      <a:r>
                        <a:rPr sz="2700" b="0">
                          <a:solidFill>
                            <a:srgbClr val="212A33"/>
                          </a:solidFill>
                          <a:latin typeface="Calibri"/>
                          <a:ea typeface="Calibri"/>
                          <a:cs typeface="Calibri"/>
                        </a:rPr>
                        <a:t>6</a:t>
                      </a:r>
                    </a:p>
                  </a:txBody>
                  <a:tcPr marL="91440" marR="91440" marT="45720" marB="45720" anchor="ctr">
                    <a:solidFill>
                      <a:srgbClr val="F4F6F7"/>
                    </a:solidFill>
                  </a:tcPr>
                </a:tc>
                <a:tc>
                  <a:txBody>
                    <a:bodyPr lIns="95250" tIns="114300" rIns="95250" bIns="95250">
                      <a:noAutofit/>
                    </a:bodyPr>
                    <a:lstStyle/>
                    <a:p>
                      <a:r>
                        <a:rPr sz="2700" b="0">
                          <a:solidFill>
                            <a:srgbClr val="212A33"/>
                          </a:solidFill>
                          <a:latin typeface="Calibri"/>
                          <a:ea typeface="Calibri"/>
                          <a:cs typeface="Calibri"/>
                        </a:rPr>
                        <a:t>9</a:t>
                      </a:r>
                    </a:p>
                  </a:txBody>
                  <a:tcPr marL="91440" marR="91440" marT="45720" marB="45720" anchor="ctr">
                    <a:solidFill>
                      <a:srgbClr val="F4F6F7"/>
                    </a:solidFill>
                  </a:tcPr>
                </a:tc>
                <a:tc>
                  <a:txBody>
                    <a:bodyPr lIns="95250" tIns="114300" rIns="95250" bIns="95250">
                      <a:noAutofit/>
                    </a:bodyPr>
                    <a:lstStyle/>
                    <a:p>
                      <a:r>
                        <a:rPr sz="2700" b="0">
                          <a:solidFill>
                            <a:srgbClr val="212A33"/>
                          </a:solidFill>
                          <a:latin typeface="Calibri"/>
                          <a:ea typeface="Calibri"/>
                          <a:cs typeface="Calibri"/>
                        </a:rPr>
                        <a:t>2/3</a:t>
                      </a:r>
                    </a:p>
                  </a:txBody>
                  <a:tcPr marL="91440" marR="91440" marT="45720" marB="45720" anchor="ctr">
                    <a:solidFill>
                      <a:srgbClr val="F4F6F7"/>
                    </a:solidFill>
                  </a:tcPr>
                </a:tc>
              </a:tr>
              <a:tr h="1023938">
                <a:tc>
                  <a:txBody>
                    <a:bodyPr lIns="95250" tIns="114300" rIns="95250" bIns="95250">
                      <a:noAutofit/>
                    </a:bodyPr>
                    <a:lstStyle/>
                    <a:p>
                      <a:r>
                        <a:rPr sz="2700" b="1">
                          <a:solidFill>
                            <a:srgbClr val="212A33"/>
                          </a:solidFill>
                          <a:latin typeface="Calibri"/>
                          <a:ea typeface="Calibri"/>
                          <a:cs typeface="Calibri"/>
                        </a:rPr>
                        <a:t>Weak, c=0</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SS</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(4,4)</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a:t>
                      </a:r>
                    </a:p>
                  </a:txBody>
                  <a:tcPr marL="91440" marR="91440" marT="45720" marB="45720" anchor="ctr">
                    <a:solidFill>
                      <a:srgbClr val="FFFFFF"/>
                    </a:solidFill>
                  </a:tcPr>
                </a:tc>
                <a:tc>
                  <a:txBody>
                    <a:bodyPr lIns="95250" tIns="114300" rIns="95250" bIns="95250">
                      <a:noAutofit/>
                    </a:bodyPr>
                    <a:lstStyle/>
                    <a:p>
                      <a:r>
                        <a:rPr sz="2700" b="0">
                          <a:solidFill>
                            <a:srgbClr val="212A33"/>
                          </a:solidFill>
                          <a:latin typeface="Calibri"/>
                          <a:ea typeface="Calibri"/>
                          <a:cs typeface="Calibri"/>
                        </a:rPr>
                        <a:t>0/3</a:t>
                      </a:r>
                    </a:p>
                  </a:txBody>
                  <a:tcPr marL="91440" marR="91440" marT="45720" marB="45720" anchor="ctr">
                    <a:solidFill>
                      <a:srgbClr val="FFFFFF"/>
                    </a:solidFill>
                  </a:tcPr>
                </a:tc>
              </a:tr>
            </a:tbl>
          </a:graphicData>
        </a:graphic>
      </p:graphicFrame>
      <p:graphicFrame>
        <p:nvGraphicFramePr>
          <p:cNvPr id="116" name=""/>
          <p:cNvGraphicFramePr/>
          <p:nvPr/>
        </p:nvGraphicFramePr>
        <p:xfrm>
          <a:off xmlns:a="http://schemas.openxmlformats.org/drawingml/2006/main" x="13954125" y="12477750"/>
          <a:ext xmlns:a="http://schemas.openxmlformats.org/drawingml/2006/main" cx="7239000" cy="2571750"/>
        </p:xfrm>
        <a:graphic xmlns:a="http://schemas.openxmlformats.org/drawingml/2006/main">
          <a:graphicData uri="http://schemas.openxmlformats.org/drawingml/2006/table">
            <a:tbl>
              <a:tblPr/>
              <a:tblGrid>
                <a:gridCol w="2286000"/>
                <a:gridCol w="2476500"/>
                <a:gridCol w="2476500"/>
              </a:tblGrid>
              <a:tr h="857250">
                <a:tc>
                  <a:txBody>
                    <a:bodyPr lIns="133350" tIns="95250" rIns="133350" bIns="95250"/>
                    <a:lstStyle/>
                    <a:p>
                      <a:r>
                        <a:rPr sz="3000" b="1">
                          <a:solidFill>
                            <a:srgbClr val="FFFFFF"/>
                          </a:solidFill>
                          <a:latin typeface="Calibri"/>
                          <a:ea typeface="Calibri"/>
                          <a:cs typeface="Calibri"/>
                        </a:rPr>
                        <a:t>A / B</a:t>
                      </a:r>
                    </a:p>
                  </a:txBody>
                  <a:tcPr marL="91440" marR="91440" marT="45720" marB="45720" anchor="ctr">
                    <a:solidFill>
                      <a:srgbClr val="003399"/>
                    </a:solidFill>
                  </a:tcPr>
                </a:tc>
                <a:tc>
                  <a:txBody>
                    <a:bodyPr lIns="133350" tIns="95250" rIns="133350" bIns="95250"/>
                    <a:lstStyle/>
                    <a:p>
                      <a:r>
                        <a:rPr sz="3000" b="1">
                          <a:solidFill>
                            <a:srgbClr val="FFFFFF"/>
                          </a:solidFill>
                          <a:latin typeface="Calibri"/>
                          <a:ea typeface="Calibri"/>
                          <a:cs typeface="Calibri"/>
                        </a:rPr>
                        <a:t>H</a:t>
                      </a:r>
                    </a:p>
                  </a:txBody>
                  <a:tcPr marL="91440" marR="91440" marT="45720" marB="45720" anchor="ctr">
                    <a:solidFill>
                      <a:srgbClr val="003399"/>
                    </a:solidFill>
                  </a:tcPr>
                </a:tc>
                <a:tc>
                  <a:txBody>
                    <a:bodyPr lIns="133350" tIns="95250" rIns="133350" bIns="95250"/>
                    <a:lstStyle/>
                    <a:p>
                      <a:r>
                        <a:rPr sz="3000" b="1">
                          <a:solidFill>
                            <a:srgbClr val="FFFFFF"/>
                          </a:solidFill>
                          <a:latin typeface="Calibri"/>
                          <a:ea typeface="Calibri"/>
                          <a:cs typeface="Calibri"/>
                        </a:rPr>
                        <a:t>S</a:t>
                      </a:r>
                    </a:p>
                  </a:txBody>
                  <a:tcPr marL="91440" marR="91440" marT="45720" marB="45720" anchor="ctr">
                    <a:solidFill>
                      <a:srgbClr val="003399"/>
                    </a:solidFill>
                  </a:tcPr>
                </a:tc>
              </a:tr>
              <a:tr h="857250">
                <a:tc>
                  <a:txBody>
                    <a:bodyPr lIns="133350" tIns="95250" rIns="133350" bIns="95250"/>
                    <a:lstStyle/>
                    <a:p>
                      <a:r>
                        <a:rPr sz="3000" b="1">
                          <a:solidFill>
                            <a:srgbClr val="212A33"/>
                          </a:solidFill>
                          <a:latin typeface="Calibri"/>
                          <a:ea typeface="Calibri"/>
                          <a:cs typeface="Calibri"/>
                        </a:rPr>
                        <a:t>H</a:t>
                      </a:r>
                    </a:p>
                  </a:txBody>
                  <a:tcPr marL="91440" marR="91440" marT="45720" marB="45720" anchor="ctr">
                    <a:solidFill>
                      <a:srgbClr val="FFFFFF"/>
                    </a:solidFill>
                  </a:tcPr>
                </a:tc>
                <a:tc>
                  <a:txBody>
                    <a:bodyPr lIns="133350" tIns="95250" rIns="133350" bIns="95250"/>
                    <a:lstStyle/>
                    <a:p>
                      <a:r>
                        <a:rPr sz="3000" b="0">
                          <a:solidFill>
                            <a:srgbClr val="212A33"/>
                          </a:solidFill>
                          <a:latin typeface="Calibri"/>
                          <a:ea typeface="Calibri"/>
                          <a:cs typeface="Calibri"/>
                        </a:rPr>
                        <a:t>(3,3)</a:t>
                      </a:r>
                    </a:p>
                  </a:txBody>
                  <a:tcPr marL="91440" marR="91440" marT="45720" marB="45720" anchor="ctr">
                    <a:solidFill>
                      <a:srgbClr val="FFFFFF"/>
                    </a:solidFill>
                  </a:tcPr>
                </a:tc>
                <a:tc>
                  <a:txBody>
                    <a:bodyPr lIns="133350" tIns="95250" rIns="133350" bIns="95250"/>
                    <a:lstStyle/>
                    <a:p>
                      <a:r>
                        <a:rPr sz="3000" b="0">
                          <a:solidFill>
                            <a:srgbClr val="212A33"/>
                          </a:solidFill>
                          <a:latin typeface="Calibri"/>
                          <a:ea typeface="Calibri"/>
                          <a:cs typeface="Calibri"/>
                        </a:rPr>
                        <a:t>(1,5)</a:t>
                      </a:r>
                    </a:p>
                  </a:txBody>
                  <a:tcPr marL="91440" marR="91440" marT="45720" marB="45720" anchor="ctr">
                    <a:solidFill>
                      <a:srgbClr val="FFFFFF"/>
                    </a:solidFill>
                  </a:tcPr>
                </a:tc>
              </a:tr>
              <a:tr h="857250">
                <a:tc>
                  <a:txBody>
                    <a:bodyPr lIns="133350" tIns="95250" rIns="133350" bIns="95250"/>
                    <a:lstStyle/>
                    <a:p>
                      <a:r>
                        <a:rPr sz="3000" b="1">
                          <a:solidFill>
                            <a:srgbClr val="212A33"/>
                          </a:solidFill>
                          <a:latin typeface="Calibri"/>
                          <a:ea typeface="Calibri"/>
                          <a:cs typeface="Calibri"/>
                        </a:rPr>
                        <a:t>S</a:t>
                      </a:r>
                    </a:p>
                  </a:txBody>
                  <a:tcPr marL="91440" marR="91440" marT="45720" marB="45720" anchor="ctr">
                    <a:solidFill>
                      <a:srgbClr val="FFFFFF"/>
                    </a:solidFill>
                  </a:tcPr>
                </a:tc>
                <a:tc>
                  <a:txBody>
                    <a:bodyPr lIns="133350" tIns="95250" rIns="133350" bIns="95250"/>
                    <a:lstStyle/>
                    <a:p>
                      <a:r>
                        <a:rPr sz="3000" b="0">
                          <a:solidFill>
                            <a:srgbClr val="212A33"/>
                          </a:solidFill>
                          <a:latin typeface="Calibri"/>
                          <a:ea typeface="Calibri"/>
                          <a:cs typeface="Calibri"/>
                        </a:rPr>
                        <a:t>(5,1)</a:t>
                      </a:r>
                    </a:p>
                  </a:txBody>
                  <a:tcPr marL="91440" marR="91440" marT="45720" marB="45720" anchor="ctr">
                    <a:solidFill>
                      <a:srgbClr val="FFFFFF"/>
                    </a:solidFill>
                  </a:tcPr>
                </a:tc>
                <a:tc>
                  <a:txBody>
                    <a:bodyPr lIns="133350" tIns="95250" rIns="133350" bIns="95250"/>
                    <a:lstStyle/>
                    <a:p>
                      <a:r>
                        <a:rPr sz="3000" b="0">
                          <a:solidFill>
                            <a:srgbClr val="212A33"/>
                          </a:solidFill>
                          <a:latin typeface="Calibri"/>
                          <a:ea typeface="Calibri"/>
                          <a:cs typeface="Calibri"/>
                        </a:rPr>
                        <a:t>(4,4)</a:t>
                      </a:r>
                    </a:p>
                  </a:txBody>
                  <a:tcPr marL="91440" marR="91440" marT="45720" marB="45720" anchor="ctr">
                    <a:solidFill>
                      <a:srgbClr val="FFFFFF"/>
                    </a:solidFill>
                  </a:tcPr>
                </a:tc>
              </a:tr>
            </a:tbl>
          </a:graphicData>
        </a:graphic>
      </p:graphicFrame>
      <p:sp>
        <p:nvSpPr>
          <p:cNvPr id="60" name="cost-proof">
            <a:extLst xmlns:a="http://schemas.openxmlformats.org/drawingml/2006/main">
              <a:ext uri="{FF2B5EF4-FFF2-40B4-BE49-F238E27FC236}">
                <a16:creationId xmlns:a16="http://schemas.microsoft.com/office/drawing/2014/main" id="{738F1A8E-8308-48C0-BEDA-1807C7078A66}"/>
              </a:ext>
            </a:extLst>
          </p:cNvPr>
          <p:cNvSpPr>
            <a:spLocks xmlns:a="http://schemas.openxmlformats.org/drawingml/2006/main" noGrp="1"/>
          </p:cNvSpPr>
          <p:nvPr/>
        </p:nvSpPr>
        <p:spPr>
          <a:xfrm xmlns:a="http://schemas.openxmlformats.org/drawingml/2006/main">
            <a:off x="21859875" y="12477750"/>
            <a:ext cx="6953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0">
                <a:solidFill>
                  <a:srgbClr val="212A33"/>
                </a:solidFill>
                <a:latin typeface="Calibri"/>
                <a:ea typeface="Calibri"/>
                <a:cs typeface="Calibri"/>
              </a:defRPr>
            </a:pPr>
            <a:r>
              <a:rPr sz="3150" b="0">
                <a:solidFill>
                  <a:srgbClr val="212A33"/>
                </a:solidFill>
                <a:latin typeface="Calibri"/>
                <a:ea typeface="Calibri"/>
                <a:cs typeface="Calibri"/>
              </a:rPr>
              <a:t>Strong demand: H−S=1−c</a:t>
            </a:r>
          </a:p>
          <a:p xmlns:a="http://schemas.openxmlformats.org/drawingml/2006/main">
            <a:pPr>
              <a:buNone/>
              <a:defRPr sz="3150" b="0">
                <a:solidFill>
                  <a:srgbClr val="212A33"/>
                </a:solidFill>
                <a:latin typeface="Calibri"/>
                <a:ea typeface="Calibri"/>
                <a:cs typeface="Calibri"/>
              </a:defRPr>
            </a:pPr>
            <a:r>
              <a:rPr sz="3150" b="0">
                <a:solidFill>
                  <a:srgbClr val="212A33"/>
                </a:solidFill>
                <a:latin typeface="Calibri"/>
                <a:ea typeface="Calibri"/>
                <a:cs typeface="Calibri"/>
              </a:rPr>
              <a:t>against H and against S.</a:t>
            </a:r>
          </a:p>
          <a:p xmlns:a="http://schemas.openxmlformats.org/drawingml/2006/main">
            <a:pPr>
              <a:buNone/>
              <a:defRPr sz="3150" b="0">
                <a:solidFill>
                  <a:srgbClr val="212A33"/>
                </a:solidFill>
                <a:latin typeface="Calibri"/>
                <a:ea typeface="Calibri"/>
                <a:cs typeface="Calibri"/>
              </a:defRPr>
            </a:pPr>
            <a:r>
              <a:rPr sz="3150" b="0">
                <a:solidFill>
                  <a:srgbClr val="212A33"/>
                </a:solidFill>
                <a:latin typeface="Calibri"/>
                <a:ea typeface="Calibri"/>
                <a:cs typeface="Calibri"/>
              </a:rPr>
              <a:t>At c=1 both players are indifferent</a:t>
            </a:r>
          </a:p>
          <a:p xmlns:a="http://schemas.openxmlformats.org/drawingml/2006/main">
            <a:pPr>
              <a:buNone/>
              <a:defRPr sz="3150" b="0">
                <a:solidFill>
                  <a:srgbClr val="212A33"/>
                </a:solidFill>
                <a:latin typeface="Calibri"/>
                <a:ea typeface="Calibri"/>
                <a:cs typeface="Calibri"/>
              </a:defRPr>
            </a:pPr>
            <a:r>
              <a:rPr sz="3150" b="0">
                <a:solidFill>
                  <a:srgbClr val="212A33"/>
                </a:solidFill>
                <a:latin typeface="Calibri"/>
                <a:ea typeface="Calibri"/>
                <a:cs typeface="Calibri"/>
              </a:rPr>
              <a:t>against every opponent mixture.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ad0bc80d35c240cc"/>
          <a:stretch xmlns:a="http://schemas.openxmlformats.org/drawingml/2006/main"/>
        </p:blipFill>
        <p:spPr>
          <a:xfrm xmlns:a="http://schemas.openxmlformats.org/drawingml/2006/main">
            <a:off x="38385750" y="28003500"/>
            <a:ext cx="1333500" cy="1333500"/>
          </a:xfrm>
          <a:prstGeom xmlns:a="http://schemas.openxmlformats.org/drawingml/2006/main" prst="rect">
            <a:avLst/>
          </a:prstGeom>
        </p:spPr>
      </p:pic>
      <p:sp>
        <p:nvSpPr>
          <p:cNvPr id="62" name="qr-hf-label">
            <a:extLst xmlns:a="http://schemas.openxmlformats.org/drawingml/2006/main">
              <a:ext uri="{FF2B5EF4-FFF2-40B4-BE49-F238E27FC236}">
                <a16:creationId xmlns:a16="http://schemas.microsoft.com/office/drawing/2014/main" id="{95C19B29-5C37-4973-8ECB-781F2CC1C294}"/>
              </a:ext>
            </a:extLst>
          </p:cNvPr>
          <p:cNvSpPr>
            <a:spLocks xmlns:a="http://schemas.openxmlformats.org/drawingml/2006/main" noGrp="1"/>
          </p:cNvSpPr>
          <p:nvPr/>
        </p:nvSpPr>
        <p:spPr>
          <a:xfrm xmlns:a="http://schemas.openxmlformats.org/drawingml/2006/main">
            <a:off x="38385750" y="2943225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12A33"/>
                </a:solidFill>
                <a:latin typeface="Calibri"/>
                <a:ea typeface="Calibri"/>
                <a:cs typeface="Calibri"/>
              </a:defRPr>
            </a:pPr>
            <a:r>
              <a:rPr sz="2025" b="1">
                <a:solidFill>
                  <a:srgbClr val="212A33"/>
                </a:solidFill>
                <a:latin typeface="Calibri"/>
                <a:ea typeface="Calibri"/>
                <a:cs typeface="Calibri"/>
              </a:rPr>
              <a:t>HF</a:t>
            </a:r>
          </a:p>
        </p:txBody>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e929055afa4e4456"/>
          <a:stretch xmlns:a="http://schemas.openxmlformats.org/drawingml/2006/main"/>
        </p:blipFill>
        <p:spPr>
          <a:xfrm xmlns:a="http://schemas.openxmlformats.org/drawingml/2006/main">
            <a:off x="40005000" y="28003500"/>
            <a:ext cx="1333500" cy="1333500"/>
          </a:xfrm>
          <a:prstGeom xmlns:a="http://schemas.openxmlformats.org/drawingml/2006/main" prst="rect">
            <a:avLst/>
          </a:prstGeom>
        </p:spPr>
      </p:pic>
      <p:sp>
        <p:nvSpPr>
          <p:cNvPr id="64" name="qr-organization-label">
            <a:extLst xmlns:a="http://schemas.openxmlformats.org/drawingml/2006/main">
              <a:ext uri="{FF2B5EF4-FFF2-40B4-BE49-F238E27FC236}">
                <a16:creationId xmlns:a16="http://schemas.microsoft.com/office/drawing/2014/main" id="{ADE4E465-BECB-4CEF-B702-EB4E1C5259A9}"/>
              </a:ext>
            </a:extLst>
          </p:cNvPr>
          <p:cNvSpPr>
            <a:spLocks xmlns:a="http://schemas.openxmlformats.org/drawingml/2006/main" noGrp="1"/>
          </p:cNvSpPr>
          <p:nvPr/>
        </p:nvSpPr>
        <p:spPr>
          <a:xfrm xmlns:a="http://schemas.openxmlformats.org/drawingml/2006/main">
            <a:off x="40005000" y="29432250"/>
            <a:ext cx="133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12A33"/>
                </a:solidFill>
                <a:latin typeface="Calibri"/>
                <a:ea typeface="Calibri"/>
                <a:cs typeface="Calibri"/>
              </a:defRPr>
            </a:pPr>
            <a:r>
              <a:rPr sz="2025" b="1">
                <a:solidFill>
                  <a:srgbClr val="212A33"/>
                </a:solidFill>
                <a:latin typeface="Calibri"/>
                <a:ea typeface="Calibri"/>
                <a:cs typeface="Calibri"/>
              </a:rPr>
              <a:t>Org</a:t>
            </a:r>
          </a:p>
        </p:txBody>
      </p:sp>
    </p:spTree>
    <p:extLst>
      <p:ext uri="{BB962C8B-B14F-4D97-AF65-F5344CB8AC3E}">
        <p14:creationId xmlns:p14="http://schemas.microsoft.com/office/powerpoint/2010/main" val="81398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2026-10-06T11:32:53.4200000Z</dcterms:created>
  <dcterms:modified xsi:type="dcterms:W3CDTF">2026-10-06T11:32:53.4200000Z</dcterms:modified>
</coreProperties>
</file>