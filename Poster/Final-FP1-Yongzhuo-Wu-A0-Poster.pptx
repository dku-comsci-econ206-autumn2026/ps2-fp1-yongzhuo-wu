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515efc6cfb4742" /><Relationship Type="http://schemas.openxmlformats.org/officeDocument/2006/relationships/extended-properties" Target="/docProps/app.xml" Id="Ra9ab45644e3d4ed4" /><Relationship Type="http://schemas.openxmlformats.org/officeDocument/2006/relationships/officeDocument" Target="/ppt/presentation.xml" Id="Rd4a5d97b6a054f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67a52b5fc248d5"/>
  </p:sldMasterIdLst>
  <p:notesMasterIdLst>
    <p:notesMasterId xmlns:r="http://schemas.openxmlformats.org/officeDocument/2006/relationships" r:id="R3e237d893c9b4b47"/>
  </p:notesMasterIdLst>
  <p:sldIdLst>
    <p:sldId xmlns:r="http://schemas.openxmlformats.org/officeDocument/2006/relationships" id="256" r:id="R1acd7fd57d4a40a0"/>
  </p:sldIdLst>
  <p:sldSz cx="42804000" cy="3027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49a0faf6964d33" /><Relationship Type="http://schemas.openxmlformats.org/officeDocument/2006/relationships/slideMaster" Target="/ppt/slideMasters/slideMaster1.xml" Id="Rbc67a52b5fc248d5" /><Relationship Type="http://schemas.openxmlformats.org/officeDocument/2006/relationships/notesMaster" Target="/ppt/notesMasters/notesMaster1.xml" Id="R3e237d893c9b4b47" /><Relationship Type="http://schemas.openxmlformats.org/officeDocument/2006/relationships/presProps" Target="/ppt/presProps.xml" Id="Rf93558403a814780" /><Relationship Type="http://schemas.openxmlformats.org/officeDocument/2006/relationships/tableStyles" Target="/ppt/tableStyles.xml" Id="R44860fd3fdc14c82" /><Relationship Type="http://schemas.openxmlformats.org/officeDocument/2006/relationships/slide" Target="/ppt/slides/slide1.xml" Id="R1acd7fd57d4a40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22230e75244d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01feec441a4241" /><Relationship Type="http://schemas.openxmlformats.org/officeDocument/2006/relationships/notesMaster" Target="/ppt/notesMasters/notesMaster1.xml" Id="R385a1c0913914b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[1] Miller, N., Resnick, P. &amp; Zeckhauser, R. 2005. Eliciting Informative Feedback: The Peer-Prediction Method. Management Science 51(9), 1359–1373. doi:10.1287/mnsc.1050.0379</a:t>
            </a:r>
          </a:p>
          <a:p xmlns:a="http://schemas.openxmlformats.org/drawingml/2006/main">
            <a:r>
              <a:t>[2] Witkowski, J., Bachrach, Y., Key, P. &amp; Parkes, D.C. 2013. Dwelling on the Negative: Incentivizing Effort in Peer Prediction. HCOMP 1(1), 190–197. doi:10.1609/hcomp.v1i1.13089</a:t>
            </a:r>
          </a:p>
          <a:p xmlns:a="http://schemas.openxmlformats.org/drawingml/2006/main">
            <a:r>
              <a:t>[3] Yuan, D. &amp; Zhang, J. 2026. When Complaints Go Quiet: Provider Strategy and Regulatory Design of AI Sycophancy. SSRN. doi:10.2139/ssrn.7455658</a:t>
            </a:r>
          </a:p>
          <a:p xmlns:a="http://schemas.openxmlformats.org/drawingml/2006/main">
            <a:r>
              <a:t>UN targets: https://sdgs.un.org/goals/goal4 ; official icon https://www.un.org/sustainabledevelopment/wp-content/uploads/2019/08/E-Goal-04.png . Instructor feedback: Requirements/PS2_Feedback.pdf, October 14. Ed discussion and credit records: paper Appendix G and the course Ed discussion. All numerical results: Colab/Final.ipynb, including its saved verification outputs. Course poster template: COMSCI/ECON 206 final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a26b555ebd4e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92a395c86b4761" /><Relationship Type="http://schemas.openxmlformats.org/officeDocument/2006/relationships/slideLayout" Target="/ppt/slideLayouts/slideLayout1.xml" Id="R19ba9125f77541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ba9125f77541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5d7695ae04999" /><Relationship Type="http://schemas.openxmlformats.org/officeDocument/2006/relationships/image" Target="/ppt/media/image.png" Id="R11cd1edc44bd43d3" /><Relationship Type="http://schemas.openxmlformats.org/officeDocument/2006/relationships/image" Target="/ppt/media/image2.png" Id="R33eb30cc18254e70" /><Relationship Type="http://schemas.openxmlformats.org/officeDocument/2006/relationships/notesSlide" Target="/ppt/notesSlides/notesSlide1.xml" Id="R9e91128d1a1a4a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top-brand-rule">
            <a:extLst xmlns:a="http://schemas.openxmlformats.org/drawingml/2006/main">
              <a:ext uri="{FF2B5EF4-FFF2-40B4-BE49-F238E27FC236}">
                <a16:creationId xmlns:a16="http://schemas.microsoft.com/office/drawing/2014/main" id="{FDACD238-30EA-433B-B9A8-2AB27062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ine">
            <a:extLst xmlns:a="http://schemas.openxmlformats.org/drawingml/2006/main">
              <a:ext uri="{FF2B5EF4-FFF2-40B4-BE49-F238E27FC236}">
                <a16:creationId xmlns:a16="http://schemas.microsoft.com/office/drawing/2014/main" id="{5806B552-CE06-4C40-BA14-45983C2D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81050"/>
            <a:ext cx="2886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27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COMSCI / ECON 206   |   FINAL RESEARCH PROJECT   |   AUTUMN 2026</a:t>
            </a:r>
          </a:p>
        </p:txBody>
      </p:sp>
      <p:sp>
        <p:nvSpPr>
          <p:cNvPr id="3" name="version">
            <a:extLst xmlns:a="http://schemas.openxmlformats.org/drawingml/2006/main">
              <a:ext uri="{FF2B5EF4-FFF2-40B4-BE49-F238E27FC236}">
                <a16:creationId xmlns:a16="http://schemas.microsoft.com/office/drawing/2014/main" id="{05588AA4-5EDB-4475-A143-90877DB1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0" y="6153150"/>
            <a:ext cx="9810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100" b="1">
                <a:solidFill>
                  <a:srgbClr val="006633"/>
                </a:solidFill>
              </a:defRPr>
            </a:defPPr>
            <a:lvl1pPr algn="l">
              <a:buNone/>
              <a:defRPr sz="2100" b="1">
                <a:solidFill>
                  <a:srgbClr val="006633"/>
                </a:solidFill>
              </a:defRPr>
            </a:lvl1pPr>
            <a:lvl2pPr algn="l">
              <a:buNone/>
              <a:defRPr sz="2100" b="1">
                <a:solidFill>
                  <a:srgbClr val="006633"/>
                </a:solidFill>
              </a:defRPr>
            </a:lvl2pPr>
            <a:lvl3pPr algn="l">
              <a:buNone/>
              <a:defRPr sz="2100" b="1">
                <a:solidFill>
                  <a:srgbClr val="006633"/>
                </a:solidFill>
              </a:defRPr>
            </a:lvl3pPr>
            <a:lvl4pPr algn="l">
              <a:buNone/>
              <a:defRPr sz="2100" b="1">
                <a:solidFill>
                  <a:srgbClr val="006633"/>
                </a:solidFill>
              </a:defRPr>
            </a:lvl4pPr>
            <a:lvl5pPr algn="l">
              <a:buNone/>
              <a:defRPr sz="2100" b="1">
                <a:solidFill>
                  <a:srgbClr val="006633"/>
                </a:solidFill>
              </a:defRPr>
            </a:lvl5pPr>
            <a:lvl6pPr algn="l">
              <a:buNone/>
              <a:defRPr sz="2100" b="1">
                <a:solidFill>
                  <a:srgbClr val="006633"/>
                </a:solidFill>
              </a:defRPr>
            </a:lvl6pPr>
            <a:lvl7pPr algn="l">
              <a:buNone/>
              <a:defRPr sz="2100" b="1">
                <a:solidFill>
                  <a:srgbClr val="006633"/>
                </a:solidFill>
              </a:defRPr>
            </a:lvl7pPr>
            <a:lvl8pPr algn="l">
              <a:buNone/>
              <a:defRPr sz="2100" b="1">
                <a:solidFill>
                  <a:srgbClr val="006633"/>
                </a:solidFill>
              </a:defRPr>
            </a:lvl8pPr>
            <a:lvl9pPr algn="l">
              <a:buNone/>
              <a:defRPr sz="2100" b="1">
                <a:solidFill>
                  <a:srgbClr val="006633"/>
                </a:solidFill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06633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6633"/>
                </a:solidFill>
                <a:latin typeface="Calibri"/>
                <a:ea typeface="Calibri"/>
                <a:cs typeface="Calibri"/>
              </a:rPr>
              <a:t>FINAL PROJECT · 21 OCTOBER 2026</a:t>
            </a:r>
          </a:p>
        </p:txBody>
      </p:sp>
      <p:sp>
        <p:nvSpPr>
          <p:cNvPr id="4" name="project-title">
            <a:extLst xmlns:a="http://schemas.openxmlformats.org/drawingml/2006/main">
              <a:ext uri="{FF2B5EF4-FFF2-40B4-BE49-F238E27FC236}">
                <a16:creationId xmlns:a16="http://schemas.microsoft.com/office/drawing/2014/main" id="{B66A5B7F-804A-4F30-B6A0-3C5C2AB4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33550"/>
            <a:ext cx="29146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450" b="1">
                <a:solidFill>
                  <a:srgbClr val="003399"/>
                </a:solidFill>
              </a:defRPr>
            </a:defPPr>
            <a:lvl1pPr algn="l">
              <a:buNone/>
              <a:defRPr sz="9450" b="1">
                <a:solidFill>
                  <a:srgbClr val="003399"/>
                </a:solidFill>
              </a:defRPr>
            </a:lvl1pPr>
            <a:lvl2pPr algn="l">
              <a:buNone/>
              <a:defRPr sz="9450" b="1">
                <a:solidFill>
                  <a:srgbClr val="003399"/>
                </a:solidFill>
              </a:defRPr>
            </a:lvl2pPr>
            <a:lvl3pPr algn="l">
              <a:buNone/>
              <a:defRPr sz="9450" b="1">
                <a:solidFill>
                  <a:srgbClr val="003399"/>
                </a:solidFill>
              </a:defRPr>
            </a:lvl3pPr>
            <a:lvl4pPr algn="l">
              <a:buNone/>
              <a:defRPr sz="9450" b="1">
                <a:solidFill>
                  <a:srgbClr val="003399"/>
                </a:solidFill>
              </a:defRPr>
            </a:lvl4pPr>
            <a:lvl5pPr algn="l">
              <a:buNone/>
              <a:defRPr sz="9450" b="1">
                <a:solidFill>
                  <a:srgbClr val="003399"/>
                </a:solidFill>
              </a:defRPr>
            </a:lvl5pPr>
            <a:lvl6pPr algn="l">
              <a:buNone/>
              <a:defRPr sz="9450" b="1">
                <a:solidFill>
                  <a:srgbClr val="003399"/>
                </a:solidFill>
              </a:defRPr>
            </a:lvl6pPr>
            <a:lvl7pPr algn="l">
              <a:buNone/>
              <a:defRPr sz="9450" b="1">
                <a:solidFill>
                  <a:srgbClr val="003399"/>
                </a:solidFill>
              </a:defRPr>
            </a:lvl7pPr>
            <a:lvl8pPr algn="l">
              <a:buNone/>
              <a:defRPr sz="9450" b="1">
                <a:solidFill>
                  <a:srgbClr val="003399"/>
                </a:solidFill>
              </a:defRPr>
            </a:lvl8pPr>
            <a:lvl9pPr algn="l">
              <a:buNone/>
              <a:defRPr sz="9450" b="1">
                <a:solidFill>
                  <a:srgbClr val="003399"/>
                </a:solidFill>
              </a:defRPr>
            </a:lvl9pPr>
          </a:lstStyle>
          <a:p xmlns:a="http://schemas.openxmlformats.org/drawingml/2006/main">
            <a:pPr algn="l">
              <a:buNone/>
              <a:defRPr sz="94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94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How to Make AI Applications</a:t>
            </a:r>
          </a:p>
          <a:p xmlns:a="http://schemas.openxmlformats.org/drawingml/2006/main">
            <a:pPr algn="l">
              <a:buNone/>
              <a:defRPr sz="94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94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Reduce Sycophancy</a:t>
            </a:r>
          </a:p>
        </p:txBody>
      </p:sp>
      <p:sp>
        <p:nvSpPr>
          <p:cNvPr id="5" name="authors">
            <a:extLst xmlns:a="http://schemas.openxmlformats.org/drawingml/2006/main">
              <a:ext uri="{FF2B5EF4-FFF2-40B4-BE49-F238E27FC236}">
                <a16:creationId xmlns:a16="http://schemas.microsoft.com/office/drawing/2014/main" id="{439A7EDB-36D0-4D9A-9F53-6704B96A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7700"/>
            <a:ext cx="2857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212A33"/>
                </a:solidFill>
              </a:defRPr>
            </a:defPPr>
            <a:lvl1pPr algn="l">
              <a:buNone/>
              <a:defRPr sz="4050" b="1">
                <a:solidFill>
                  <a:srgbClr val="212A33"/>
                </a:solidFill>
              </a:defRPr>
            </a:lvl1pPr>
            <a:lvl2pPr algn="l">
              <a:buNone/>
              <a:defRPr sz="4050" b="1">
                <a:solidFill>
                  <a:srgbClr val="212A33"/>
                </a:solidFill>
              </a:defRPr>
            </a:lvl2pPr>
            <a:lvl3pPr algn="l">
              <a:buNone/>
              <a:defRPr sz="4050" b="1">
                <a:solidFill>
                  <a:srgbClr val="212A33"/>
                </a:solidFill>
              </a:defRPr>
            </a:lvl3pPr>
            <a:lvl4pPr algn="l">
              <a:buNone/>
              <a:defRPr sz="4050" b="1">
                <a:solidFill>
                  <a:srgbClr val="212A33"/>
                </a:solidFill>
              </a:defRPr>
            </a:lvl4pPr>
            <a:lvl5pPr algn="l">
              <a:buNone/>
              <a:defRPr sz="4050" b="1">
                <a:solidFill>
                  <a:srgbClr val="212A33"/>
                </a:solidFill>
              </a:defRPr>
            </a:lvl5pPr>
            <a:lvl6pPr algn="l">
              <a:buNone/>
              <a:defRPr sz="4050" b="1">
                <a:solidFill>
                  <a:srgbClr val="212A33"/>
                </a:solidFill>
              </a:defRPr>
            </a:lvl6pPr>
            <a:lvl7pPr algn="l">
              <a:buNone/>
              <a:defRPr sz="4050" b="1">
                <a:solidFill>
                  <a:srgbClr val="212A33"/>
                </a:solidFill>
              </a:defRPr>
            </a:lvl7pPr>
            <a:lvl8pPr algn="l">
              <a:buNone/>
              <a:defRPr sz="4050" b="1">
                <a:solidFill>
                  <a:srgbClr val="212A33"/>
                </a:solidFill>
              </a:defRPr>
            </a:lvl8pPr>
            <a:lvl9pPr algn="l">
              <a:buNone/>
              <a:defRPr sz="4050" b="1">
                <a:solidFill>
                  <a:srgbClr val="212A33"/>
                </a:solidFill>
              </a:defRPr>
            </a:lvl9pPr>
          </a:lstStyle>
          <a:p xmlns:a="http://schemas.openxmlformats.org/drawingml/2006/main">
            <a:pPr algn="l">
              <a:buNone/>
              <a:defRPr sz="4050" b="1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4050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Yongzhuo Wu  |  Team FP1  |  yw650@duke.edu</a:t>
            </a:r>
          </a:p>
        </p:txBody>
      </p:sp>
      <p:sp>
        <p:nvSpPr>
          <p:cNvPr id="6" name="course-instructor">
            <a:extLst xmlns:a="http://schemas.openxmlformats.org/drawingml/2006/main">
              <a:ext uri="{FF2B5EF4-FFF2-40B4-BE49-F238E27FC236}">
                <a16:creationId xmlns:a16="http://schemas.microsoft.com/office/drawing/2014/main" id="{E0620329-B4C6-41DE-A2DD-7C1BAB05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29225"/>
            <a:ext cx="2857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0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Course instructor: Professor Luyao Zhang</a:t>
            </a:r>
          </a:p>
        </p:txBody>
      </p:sp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E53F40B-9302-4473-BA32-DB1B71242F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cd1edc44bd43d3"/>
          <a:stretch xmlns:a="http://schemas.openxmlformats.org/drawingml/2006/main"/>
        </p:blipFill>
        <p:spPr>
          <a:xfrm xmlns:a="http://schemas.openxmlformats.org/drawingml/2006/main">
            <a:off x="32575500" y="2190750"/>
            <a:ext cx="8096250" cy="2595818"/>
          </a:xfrm>
          <a:prstGeom xmlns:a="http://schemas.openxmlformats.org/drawingml/2006/main" prst="rect">
            <a:avLst/>
          </a:prstGeom>
        </p:spPr>
      </p:pic>
      <p:sp>
        <p:nvSpPr>
          <p:cNvPr id="8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E5C59819-8AE8-4F07-93AA-7B6F5A9A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428040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akeaway-label">
            <a:extLst xmlns:a="http://schemas.openxmlformats.org/drawingml/2006/main">
              <a:ext uri="{FF2B5EF4-FFF2-40B4-BE49-F238E27FC236}">
                <a16:creationId xmlns:a16="http://schemas.microsoft.com/office/drawing/2014/main" id="{701690AD-D64E-4607-AE56-414773E6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23900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KEY MESSAGE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83EFFE95-83CD-498B-99EF-83DF06C3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000875"/>
            <a:ext cx="3499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425" b="1">
                <a:solidFill>
                  <a:srgbClr val="FFFFFF"/>
                </a:solidFill>
              </a:defRPr>
            </a:defPPr>
            <a:lvl1pPr algn="l">
              <a:buNone/>
              <a:defRPr sz="4425" b="1">
                <a:solidFill>
                  <a:srgbClr val="FFFFFF"/>
                </a:solidFill>
              </a:defRPr>
            </a:lvl1pPr>
            <a:lvl2pPr algn="l">
              <a:buNone/>
              <a:defRPr sz="4425" b="1">
                <a:solidFill>
                  <a:srgbClr val="FFFFFF"/>
                </a:solidFill>
              </a:defRPr>
            </a:lvl2pPr>
            <a:lvl3pPr algn="l">
              <a:buNone/>
              <a:defRPr sz="4425" b="1">
                <a:solidFill>
                  <a:srgbClr val="FFFFFF"/>
                </a:solidFill>
              </a:defRPr>
            </a:lvl3pPr>
            <a:lvl4pPr algn="l">
              <a:buNone/>
              <a:defRPr sz="4425" b="1">
                <a:solidFill>
                  <a:srgbClr val="FFFFFF"/>
                </a:solidFill>
              </a:defRPr>
            </a:lvl4pPr>
            <a:lvl5pPr algn="l">
              <a:buNone/>
              <a:defRPr sz="4425" b="1">
                <a:solidFill>
                  <a:srgbClr val="FFFFFF"/>
                </a:solidFill>
              </a:defRPr>
            </a:lvl5pPr>
            <a:lvl6pPr algn="l">
              <a:buNone/>
              <a:defRPr sz="4425" b="1">
                <a:solidFill>
                  <a:srgbClr val="FFFFFF"/>
                </a:solidFill>
              </a:defRPr>
            </a:lvl6pPr>
            <a:lvl7pPr algn="l">
              <a:buNone/>
              <a:defRPr sz="4425" b="1">
                <a:solidFill>
                  <a:srgbClr val="FFFFFF"/>
                </a:solidFill>
              </a:defRPr>
            </a:lvl7pPr>
            <a:lvl8pPr algn="l">
              <a:buNone/>
              <a:defRPr sz="4425" b="1">
                <a:solidFill>
                  <a:srgbClr val="FFFFFF"/>
                </a:solidFill>
              </a:defRPr>
            </a:lvl8pPr>
            <a:lvl9pPr algn="l">
              <a:buNone/>
              <a:defRPr sz="4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buNone/>
              <a:defRPr sz="4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Paid correction needs reliable acceptance and enough net revenue.</a:t>
            </a:r>
          </a:p>
          <a:p xmlns:a="http://schemas.openxmlformats.org/drawingml/2006/main">
            <a:pPr algn="l">
              <a:buNone/>
              <a:defRPr sz="4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Basic access also needs a funded audit and appeal route.</a:t>
            </a:r>
          </a:p>
        </p:txBody>
      </p:sp>
      <p:sp>
        <p:nvSpPr>
          <p:cNvPr id="11" name="question-model-title">
            <a:extLst xmlns:a="http://schemas.openxmlformats.org/drawingml/2006/main">
              <a:ext uri="{FF2B5EF4-FFF2-40B4-BE49-F238E27FC236}">
                <a16:creationId xmlns:a16="http://schemas.microsoft.com/office/drawing/2014/main" id="{CD5C4DFB-E23C-429C-B167-B9CF4889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525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01   Question and foundations</a:t>
            </a:r>
          </a:p>
        </p:txBody>
      </p:sp>
      <p:sp>
        <p:nvSpPr>
          <p:cNvPr id="12" name="question-model-title-rule">
            <a:extLst xmlns:a="http://schemas.openxmlformats.org/drawingml/2006/main">
              <a:ext uri="{FF2B5EF4-FFF2-40B4-BE49-F238E27FC236}">
                <a16:creationId xmlns:a16="http://schemas.microsoft.com/office/drawing/2014/main" id="{F81F4A35-5377-44CB-941D-4B8D9F26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506075"/>
            <a:ext cx="1104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search-question-heading">
            <a:extLst xmlns:a="http://schemas.openxmlformats.org/drawingml/2006/main">
              <a:ext uri="{FF2B5EF4-FFF2-40B4-BE49-F238E27FC236}">
                <a16:creationId xmlns:a16="http://schemas.microsoft.com/office/drawing/2014/main" id="{4190E777-F9CF-4131-93FB-BBFC74FF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144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Research question &amp; verified gap</a:t>
            </a:r>
          </a:p>
        </p:txBody>
      </p:sp>
      <p:sp>
        <p:nvSpPr>
          <p:cNvPr id="14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76FF89C4-3045-4C47-A236-4952EAA0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906250"/>
            <a:ext cx="11049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000" b="0">
                <a:solidFill>
                  <a:srgbClr val="212A33"/>
                </a:solidFill>
              </a:defRPr>
            </a:defPPr>
            <a:lvl1pPr algn="l">
              <a:buNone/>
              <a:defRPr sz="3000" b="0">
                <a:solidFill>
                  <a:srgbClr val="212A33"/>
                </a:solidFill>
              </a:defRPr>
            </a:lvl1pPr>
            <a:lvl2pPr algn="l">
              <a:buNone/>
              <a:defRPr sz="3000" b="0">
                <a:solidFill>
                  <a:srgbClr val="212A33"/>
                </a:solidFill>
              </a:defRPr>
            </a:lvl2pPr>
            <a:lvl3pPr algn="l">
              <a:buNone/>
              <a:defRPr sz="3000" b="0">
                <a:solidFill>
                  <a:srgbClr val="212A33"/>
                </a:solidFill>
              </a:defRPr>
            </a:lvl3pPr>
            <a:lvl4pPr algn="l">
              <a:buNone/>
              <a:defRPr sz="3000" b="0">
                <a:solidFill>
                  <a:srgbClr val="212A33"/>
                </a:solidFill>
              </a:defRPr>
            </a:lvl4pPr>
            <a:lvl5pPr algn="l">
              <a:buNone/>
              <a:defRPr sz="3000" b="0">
                <a:solidFill>
                  <a:srgbClr val="212A33"/>
                </a:solidFill>
              </a:defRPr>
            </a:lvl5pPr>
            <a:lvl6pPr algn="l">
              <a:buNone/>
              <a:defRPr sz="3000" b="0">
                <a:solidFill>
                  <a:srgbClr val="212A33"/>
                </a:solidFill>
              </a:defRPr>
            </a:lvl6pPr>
            <a:lvl7pPr algn="l">
              <a:buNone/>
              <a:defRPr sz="3000" b="0">
                <a:solidFill>
                  <a:srgbClr val="212A33"/>
                </a:solidFill>
              </a:defRPr>
            </a:lvl7pPr>
            <a:lvl8pPr algn="l">
              <a:buNone/>
              <a:defRPr sz="3000" b="0">
                <a:solidFill>
                  <a:srgbClr val="212A33"/>
                </a:solidFill>
              </a:defRPr>
            </a:lvl8pPr>
            <a:lvl9pPr algn="l">
              <a:buNone/>
              <a:defRPr sz="3000" b="0">
                <a:solidFill>
                  <a:srgbClr val="212A33"/>
                </a:solidFill>
              </a:defRPr>
            </a:lvl9pPr>
          </a:lstStyle>
          <a:p xmlns:a="http://schemas.openxmlformats.org/drawingml/2006/main">
            <a:pPr algn="l">
              <a:buNone/>
              <a:defRPr sz="30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0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Can paid, independently accepted correction make apps honest while preserving access?</a:t>
            </a:r>
          </a:p>
          <a:p xmlns:a="http://schemas.openxmlformats.org/drawingml/2006/main">
            <a:pPr algn="l">
              <a:buNone/>
              <a:defRPr sz="30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0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Case: a proposed tutoring service with two competing apps and three learners. Demand and budgets are assumptions.</a:t>
            </a:r>
          </a:p>
        </p:txBody>
      </p:sp>
      <p:sp>
        <p:nvSpPr>
          <p:cNvPr id="15" name="model-heading">
            <a:extLst xmlns:a="http://schemas.openxmlformats.org/drawingml/2006/main">
              <a:ext uri="{FF2B5EF4-FFF2-40B4-BE49-F238E27FC236}">
                <a16:creationId xmlns:a16="http://schemas.microsoft.com/office/drawing/2014/main" id="{19910E6B-D44C-401D-8E76-04691CDB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4780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375" b="1">
                <a:solidFill>
                  <a:srgbClr val="003399"/>
                </a:solidFill>
              </a:defRPr>
            </a:defPPr>
            <a:lvl1pPr algn="l">
              <a:buNone/>
              <a:defRPr sz="3375" b="1">
                <a:solidFill>
                  <a:srgbClr val="003399"/>
                </a:solidFill>
              </a:defRPr>
            </a:lvl1pPr>
            <a:lvl2pPr algn="l">
              <a:buNone/>
              <a:defRPr sz="3375" b="1">
                <a:solidFill>
                  <a:srgbClr val="003399"/>
                </a:solidFill>
              </a:defRPr>
            </a:lvl2pPr>
            <a:lvl3pPr algn="l">
              <a:buNone/>
              <a:defRPr sz="3375" b="1">
                <a:solidFill>
                  <a:srgbClr val="003399"/>
                </a:solidFill>
              </a:defRPr>
            </a:lvl3pPr>
            <a:lvl4pPr algn="l">
              <a:buNone/>
              <a:defRPr sz="3375" b="1">
                <a:solidFill>
                  <a:srgbClr val="003399"/>
                </a:solidFill>
              </a:defRPr>
            </a:lvl4pPr>
            <a:lvl5pPr algn="l">
              <a:buNone/>
              <a:defRPr sz="3375" b="1">
                <a:solidFill>
                  <a:srgbClr val="003399"/>
                </a:solidFill>
              </a:defRPr>
            </a:lvl5pPr>
            <a:lvl6pPr algn="l">
              <a:buNone/>
              <a:defRPr sz="3375" b="1">
                <a:solidFill>
                  <a:srgbClr val="003399"/>
                </a:solidFill>
              </a:defRPr>
            </a:lvl6pPr>
            <a:lvl7pPr algn="l">
              <a:buNone/>
              <a:defRPr sz="3375" b="1">
                <a:solidFill>
                  <a:srgbClr val="003399"/>
                </a:solidFill>
              </a:defRPr>
            </a:lvl7pPr>
            <a:lvl8pPr algn="l">
              <a:buNone/>
              <a:defRPr sz="3375" b="1">
                <a:solidFill>
                  <a:srgbClr val="003399"/>
                </a:solidFill>
              </a:defRPr>
            </a:lvl8pPr>
            <a:lvl9pPr algn="l">
              <a:buNone/>
              <a:defRPr sz="3375" b="1">
                <a:solidFill>
                  <a:srgbClr val="003399"/>
                </a:solidFill>
              </a:defRPr>
            </a:lvl9pPr>
          </a:lstStyle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Strategic model and information</a:t>
            </a:r>
          </a:p>
        </p:txBody>
      </p:sp>
      <p:sp>
        <p:nvSpPr>
          <p:cNvPr id="16" name="model">
            <a:extLst xmlns:a="http://schemas.openxmlformats.org/drawingml/2006/main">
              <a:ext uri="{FF2B5EF4-FFF2-40B4-BE49-F238E27FC236}">
                <a16:creationId xmlns:a16="http://schemas.microsoft.com/office/drawing/2014/main" id="{BD93B7B7-C6A1-4C6C-8B07-9664A884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240000"/>
            <a:ext cx="11049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850" b="0">
                <a:solidFill>
                  <a:srgbClr val="212A33"/>
                </a:solidFill>
              </a:defRPr>
            </a:defPPr>
            <a:lvl1pPr algn="l">
              <a:buNone/>
              <a:defRPr sz="2850" b="0">
                <a:solidFill>
                  <a:srgbClr val="212A33"/>
                </a:solidFill>
              </a:defRPr>
            </a:lvl1pPr>
            <a:lvl2pPr algn="l">
              <a:buNone/>
              <a:defRPr sz="2850" b="0">
                <a:solidFill>
                  <a:srgbClr val="212A33"/>
                </a:solidFill>
              </a:defRPr>
            </a:lvl2pPr>
            <a:lvl3pPr algn="l">
              <a:buNone/>
              <a:defRPr sz="2850" b="0">
                <a:solidFill>
                  <a:srgbClr val="212A33"/>
                </a:solidFill>
              </a:defRPr>
            </a:lvl3pPr>
            <a:lvl4pPr algn="l">
              <a:buNone/>
              <a:defRPr sz="2850" b="0">
                <a:solidFill>
                  <a:srgbClr val="212A33"/>
                </a:solidFill>
              </a:defRPr>
            </a:lvl4pPr>
            <a:lvl5pPr algn="l">
              <a:buNone/>
              <a:defRPr sz="2850" b="0">
                <a:solidFill>
                  <a:srgbClr val="212A33"/>
                </a:solidFill>
              </a:defRPr>
            </a:lvl5pPr>
            <a:lvl6pPr algn="l">
              <a:buNone/>
              <a:defRPr sz="2850" b="0">
                <a:solidFill>
                  <a:srgbClr val="212A33"/>
                </a:solidFill>
              </a:defRPr>
            </a:lvl6pPr>
            <a:lvl7pPr algn="l">
              <a:buNone/>
              <a:defRPr sz="2850" b="0">
                <a:solidFill>
                  <a:srgbClr val="212A33"/>
                </a:solidFill>
              </a:defRPr>
            </a:lvl7pPr>
            <a:lvl8pPr algn="l">
              <a:buNone/>
              <a:defRPr sz="2850" b="0">
                <a:solidFill>
                  <a:srgbClr val="212A33"/>
                </a:solidFill>
              </a:defRPr>
            </a:lvl8pPr>
            <a:lvl9pPr algn="l">
              <a:buNone/>
              <a:defRPr sz="2850" b="0">
                <a:solidFill>
                  <a:srgbClr val="212A33"/>
                </a:solidFill>
              </a:defRPr>
            </a:lvl9pPr>
          </a:lstStyle>
          <a:p xmlns:a="http://schemas.openxmlformats.org/drawingml/2006/main">
            <a:pPr algn="l">
              <a:buNone/>
              <a:defRPr sz="28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Apps choose H (correction attempt) or S simultaneously; payoffs, values and costs are known, concurrent actions unobserved. Each H commits one attempt before bids.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Nash equilibrium predicts supply. Expected service return is q·price−c. Each attempt costs c.</a:t>
            </a:r>
          </a:p>
        </p:txBody>
      </p:sp>
      <p:sp>
        <p:nvSpPr>
          <p:cNvPr id="17" name="lenses-heading">
            <a:extLst xmlns:a="http://schemas.openxmlformats.org/drawingml/2006/main">
              <a:ext uri="{FF2B5EF4-FFF2-40B4-BE49-F238E27FC236}">
                <a16:creationId xmlns:a16="http://schemas.microsoft.com/office/drawing/2014/main" id="{DAFBC93E-B2F0-417F-9381-A98FDF50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335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375" b="1">
                <a:solidFill>
                  <a:srgbClr val="003399"/>
                </a:solidFill>
              </a:defRPr>
            </a:defPPr>
            <a:lvl1pPr algn="l">
              <a:buNone/>
              <a:defRPr sz="3375" b="1">
                <a:solidFill>
                  <a:srgbClr val="003399"/>
                </a:solidFill>
              </a:defRPr>
            </a:lvl1pPr>
            <a:lvl2pPr algn="l">
              <a:buNone/>
              <a:defRPr sz="3375" b="1">
                <a:solidFill>
                  <a:srgbClr val="003399"/>
                </a:solidFill>
              </a:defRPr>
            </a:lvl2pPr>
            <a:lvl3pPr algn="l">
              <a:buNone/>
              <a:defRPr sz="3375" b="1">
                <a:solidFill>
                  <a:srgbClr val="003399"/>
                </a:solidFill>
              </a:defRPr>
            </a:lvl3pPr>
            <a:lvl4pPr algn="l">
              <a:buNone/>
              <a:defRPr sz="3375" b="1">
                <a:solidFill>
                  <a:srgbClr val="003399"/>
                </a:solidFill>
              </a:defRPr>
            </a:lvl4pPr>
            <a:lvl5pPr algn="l">
              <a:buNone/>
              <a:defRPr sz="3375" b="1">
                <a:solidFill>
                  <a:srgbClr val="003399"/>
                </a:solidFill>
              </a:defRPr>
            </a:lvl5pPr>
            <a:lvl6pPr algn="l">
              <a:buNone/>
              <a:defRPr sz="3375" b="1">
                <a:solidFill>
                  <a:srgbClr val="003399"/>
                </a:solidFill>
              </a:defRPr>
            </a:lvl6pPr>
            <a:lvl7pPr algn="l">
              <a:buNone/>
              <a:defRPr sz="3375" b="1">
                <a:solidFill>
                  <a:srgbClr val="003399"/>
                </a:solidFill>
              </a:defRPr>
            </a:lvl7pPr>
            <a:lvl8pPr algn="l">
              <a:buNone/>
              <a:defRPr sz="3375" b="1">
                <a:solidFill>
                  <a:srgbClr val="003399"/>
                </a:solidFill>
              </a:defRPr>
            </a:lvl8pPr>
            <a:lvl9pPr algn="l">
              <a:buNone/>
              <a:defRPr sz="3375" b="1">
                <a:solidFill>
                  <a:srgbClr val="003399"/>
                </a:solidFill>
              </a:defRPr>
            </a:lvl9pPr>
          </a:lstStyle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Three complementary lenses</a:t>
            </a:r>
          </a:p>
        </p:txBody>
      </p:sp>
      <p:sp>
        <p:nvSpPr>
          <p:cNvPr id="18" name="lenses">
            <a:extLst xmlns:a="http://schemas.openxmlformats.org/drawingml/2006/main">
              <a:ext uri="{FF2B5EF4-FFF2-40B4-BE49-F238E27FC236}">
                <a16:creationId xmlns:a16="http://schemas.microsoft.com/office/drawing/2014/main" id="{E2BAF178-74E4-4DFF-A2BB-763467E7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097625"/>
            <a:ext cx="1104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850" b="0">
                <a:solidFill>
                  <a:srgbClr val="212A33"/>
                </a:solidFill>
              </a:defRPr>
            </a:defPPr>
            <a:lvl1pPr algn="l">
              <a:buNone/>
              <a:defRPr sz="2850" b="0">
                <a:solidFill>
                  <a:srgbClr val="212A33"/>
                </a:solidFill>
              </a:defRPr>
            </a:lvl1pPr>
            <a:lvl2pPr algn="l">
              <a:buNone/>
              <a:defRPr sz="2850" b="0">
                <a:solidFill>
                  <a:srgbClr val="212A33"/>
                </a:solidFill>
              </a:defRPr>
            </a:lvl2pPr>
            <a:lvl3pPr algn="l">
              <a:buNone/>
              <a:defRPr sz="2850" b="0">
                <a:solidFill>
                  <a:srgbClr val="212A33"/>
                </a:solidFill>
              </a:defRPr>
            </a:lvl3pPr>
            <a:lvl4pPr algn="l">
              <a:buNone/>
              <a:defRPr sz="2850" b="0">
                <a:solidFill>
                  <a:srgbClr val="212A33"/>
                </a:solidFill>
              </a:defRPr>
            </a:lvl4pPr>
            <a:lvl5pPr algn="l">
              <a:buNone/>
              <a:defRPr sz="2850" b="0">
                <a:solidFill>
                  <a:srgbClr val="212A33"/>
                </a:solidFill>
              </a:defRPr>
            </a:lvl5pPr>
            <a:lvl6pPr algn="l">
              <a:buNone/>
              <a:defRPr sz="2850" b="0">
                <a:solidFill>
                  <a:srgbClr val="212A33"/>
                </a:solidFill>
              </a:defRPr>
            </a:lvl6pPr>
            <a:lvl7pPr algn="l">
              <a:buNone/>
              <a:defRPr sz="2850" b="0">
                <a:solidFill>
                  <a:srgbClr val="212A33"/>
                </a:solidFill>
              </a:defRPr>
            </a:lvl7pPr>
            <a:lvl8pPr algn="l">
              <a:buNone/>
              <a:defRPr sz="2850" b="0">
                <a:solidFill>
                  <a:srgbClr val="212A33"/>
                </a:solidFill>
              </a:defRPr>
            </a:lvl8pPr>
            <a:lvl9pPr algn="l">
              <a:buNone/>
              <a:defRPr sz="2850" b="0">
                <a:solidFill>
                  <a:srgbClr val="212A33"/>
                </a:solidFill>
              </a:defRPr>
            </a:lvl9pPr>
          </a:lstStyle>
          <a:p xmlns:a="http://schemas.openxmlformats.org/drawingml/2006/main">
            <a:pPr algn="l">
              <a:buNone/>
              <a:defRPr sz="28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Game theory predicts supply; social choice compares surplus/access; mechanism design tests payments and review.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Observed n=1: 102 is correct; A preferred; stated WTP 3 vs 0; purchases n=0. These are distinct outcomes; demand stays assumed.</a:t>
            </a:r>
          </a:p>
        </p:txBody>
      </p:sp>
      <p:sp>
        <p:nvSpPr>
          <p:cNvPr id="19" name="auction-heading">
            <a:extLst xmlns:a="http://schemas.openxmlformats.org/drawingml/2006/main">
              <a:ext uri="{FF2B5EF4-FFF2-40B4-BE49-F238E27FC236}">
                <a16:creationId xmlns:a16="http://schemas.microsoft.com/office/drawing/2014/main" id="{0A85FF4E-C110-48A1-8567-A06DAC93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431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375" b="1">
                <a:solidFill>
                  <a:srgbClr val="003399"/>
                </a:solidFill>
              </a:defRPr>
            </a:defPPr>
            <a:lvl1pPr algn="l">
              <a:buNone/>
              <a:defRPr sz="3375" b="1">
                <a:solidFill>
                  <a:srgbClr val="003399"/>
                </a:solidFill>
              </a:defRPr>
            </a:lvl1pPr>
            <a:lvl2pPr algn="l">
              <a:buNone/>
              <a:defRPr sz="3375" b="1">
                <a:solidFill>
                  <a:srgbClr val="003399"/>
                </a:solidFill>
              </a:defRPr>
            </a:lvl2pPr>
            <a:lvl3pPr algn="l">
              <a:buNone/>
              <a:defRPr sz="3375" b="1">
                <a:solidFill>
                  <a:srgbClr val="003399"/>
                </a:solidFill>
              </a:defRPr>
            </a:lvl3pPr>
            <a:lvl4pPr algn="l">
              <a:buNone/>
              <a:defRPr sz="3375" b="1">
                <a:solidFill>
                  <a:srgbClr val="003399"/>
                </a:solidFill>
              </a:defRPr>
            </a:lvl4pPr>
            <a:lvl5pPr algn="l">
              <a:buNone/>
              <a:defRPr sz="3375" b="1">
                <a:solidFill>
                  <a:srgbClr val="003399"/>
                </a:solidFill>
              </a:defRPr>
            </a:lvl5pPr>
            <a:lvl6pPr algn="l">
              <a:buNone/>
              <a:defRPr sz="3375" b="1">
                <a:solidFill>
                  <a:srgbClr val="003399"/>
                </a:solidFill>
              </a:defRPr>
            </a:lvl6pPr>
            <a:lvl7pPr algn="l">
              <a:buNone/>
              <a:defRPr sz="3375" b="1">
                <a:solidFill>
                  <a:srgbClr val="003399"/>
                </a:solidFill>
              </a:defRPr>
            </a:lvl7pPr>
            <a:lvl8pPr algn="l">
              <a:buNone/>
              <a:defRPr sz="3375" b="1">
                <a:solidFill>
                  <a:srgbClr val="003399"/>
                </a:solidFill>
              </a:defRPr>
            </a:lvl8pPr>
            <a:lvl9pPr algn="l">
              <a:buNone/>
              <a:defRPr sz="3375" b="1">
                <a:solidFill>
                  <a:srgbClr val="003399"/>
                </a:solidFill>
              </a:defRPr>
            </a:lvl9pPr>
          </a:lstStyle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Auction and allocation boundary</a:t>
            </a:r>
          </a:p>
        </p:txBody>
      </p:sp>
      <p:sp>
        <p:nvSpPr>
          <p:cNvPr id="20" name="auction">
            <a:extLst xmlns:a="http://schemas.openxmlformats.org/drawingml/2006/main">
              <a:ext uri="{FF2B5EF4-FFF2-40B4-BE49-F238E27FC236}">
                <a16:creationId xmlns:a16="http://schemas.microsoft.com/office/drawing/2014/main" id="{182900A4-D41C-4FC8-8D3B-A44A8758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193250"/>
            <a:ext cx="11049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625" b="0">
                <a:solidFill>
                  <a:srgbClr val="212A33"/>
                </a:solidFill>
              </a:defRPr>
            </a:defPPr>
            <a:lvl1pPr algn="l">
              <a:buNone/>
              <a:defRPr sz="2625" b="0">
                <a:solidFill>
                  <a:srgbClr val="212A33"/>
                </a:solidFill>
              </a:defRPr>
            </a:lvl1pPr>
            <a:lvl2pPr algn="l">
              <a:buNone/>
              <a:defRPr sz="2625" b="0">
                <a:solidFill>
                  <a:srgbClr val="212A33"/>
                </a:solidFill>
              </a:defRPr>
            </a:lvl2pPr>
            <a:lvl3pPr algn="l">
              <a:buNone/>
              <a:defRPr sz="2625" b="0">
                <a:solidFill>
                  <a:srgbClr val="212A33"/>
                </a:solidFill>
              </a:defRPr>
            </a:lvl3pPr>
            <a:lvl4pPr algn="l">
              <a:buNone/>
              <a:defRPr sz="2625" b="0">
                <a:solidFill>
                  <a:srgbClr val="212A33"/>
                </a:solidFill>
              </a:defRPr>
            </a:lvl4pPr>
            <a:lvl5pPr algn="l">
              <a:buNone/>
              <a:defRPr sz="2625" b="0">
                <a:solidFill>
                  <a:srgbClr val="212A33"/>
                </a:solidFill>
              </a:defRPr>
            </a:lvl5pPr>
            <a:lvl6pPr algn="l">
              <a:buNone/>
              <a:defRPr sz="2625" b="0">
                <a:solidFill>
                  <a:srgbClr val="212A33"/>
                </a:solidFill>
              </a:defRPr>
            </a:lvl6pPr>
            <a:lvl7pPr algn="l">
              <a:buNone/>
              <a:defRPr sz="2625" b="0">
                <a:solidFill>
                  <a:srgbClr val="212A33"/>
                </a:solidFill>
              </a:defRPr>
            </a:lvl7pPr>
            <a:lvl8pPr algn="l">
              <a:buNone/>
              <a:defRPr sz="2625" b="0">
                <a:solidFill>
                  <a:srgbClr val="212A33"/>
                </a:solidFill>
              </a:defRPr>
            </a:lvl8pPr>
            <a:lvl9pPr algn="l">
              <a:buNone/>
              <a:defRPr sz="2625" b="0">
                <a:solidFill>
                  <a:srgbClr val="212A33"/>
                </a:solidFill>
              </a:defRPr>
            </a:lvl9pPr>
          </a:lstStyle>
          <a:p xmlns:a="http://schemas.openxmlformats.org/drawingml/2006/main">
            <a:pPr algn="l">
              <a:buNone/>
              <a:defRPr sz="26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6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Top k sealed bids win at bid k+1; lower ID breaks ties. One round, no reserve; losers pay zero. Fixed supply, private unit demand and q independent of bids. Budgets, biased checking and strategic auditors need further study.</a:t>
            </a:r>
          </a:p>
        </p:txBody>
      </p:sp>
      <p:sp>
        <p:nvSpPr>
          <p:cNvPr id="21" name="design-evidence-title">
            <a:extLst xmlns:a="http://schemas.openxmlformats.org/drawingml/2006/main">
              <a:ext uri="{FF2B5EF4-FFF2-40B4-BE49-F238E27FC236}">
                <a16:creationId xmlns:a16="http://schemas.microsoft.com/office/drawing/2014/main" id="{5BD8C5A5-8D38-4D0E-9168-5677F645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9525000"/>
            <a:ext cx="16134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02   Model and verified evidence</a:t>
            </a:r>
          </a:p>
        </p:txBody>
      </p:sp>
      <p:sp>
        <p:nvSpPr>
          <p:cNvPr id="22" name="design-evidence-title-rule">
            <a:extLst xmlns:a="http://schemas.openxmlformats.org/drawingml/2006/main">
              <a:ext uri="{FF2B5EF4-FFF2-40B4-BE49-F238E27FC236}">
                <a16:creationId xmlns:a16="http://schemas.microsoft.com/office/drawing/2014/main" id="{3074EA74-1821-4014-8E91-ECC3F7A8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0506075"/>
            <a:ext cx="1613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impact-title">
            <a:extLst xmlns:a="http://schemas.openxmlformats.org/drawingml/2006/main">
              <a:ext uri="{FF2B5EF4-FFF2-40B4-BE49-F238E27FC236}">
                <a16:creationId xmlns:a16="http://schemas.microsoft.com/office/drawing/2014/main" id="{7974BDE9-47C8-4976-9EB0-1D99D2AD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9525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03   Practical impacts and roadmap</a:t>
            </a:r>
          </a:p>
        </p:txBody>
      </p:sp>
      <p:sp>
        <p:nvSpPr>
          <p:cNvPr id="32" name="impact-title-rule">
            <a:extLst xmlns:a="http://schemas.openxmlformats.org/drawingml/2006/main">
              <a:ext uri="{FF2B5EF4-FFF2-40B4-BE49-F238E27FC236}">
                <a16:creationId xmlns:a16="http://schemas.microsoft.com/office/drawing/2014/main" id="{92EF0681-32CB-4E92-B477-91FDD7DB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0506075"/>
            <a:ext cx="1104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al-world-heading">
            <a:extLst xmlns:a="http://schemas.openxmlformats.org/drawingml/2006/main">
              <a:ext uri="{FF2B5EF4-FFF2-40B4-BE49-F238E27FC236}">
                <a16:creationId xmlns:a16="http://schemas.microsoft.com/office/drawing/2014/main" id="{8D7A544D-17E0-43AC-A769-0DC992E2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1144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375" b="1">
                <a:solidFill>
                  <a:srgbClr val="003399"/>
                </a:solidFill>
              </a:defRPr>
            </a:defPPr>
            <a:lvl1pPr algn="l">
              <a:buNone/>
              <a:defRPr sz="3375" b="1">
                <a:solidFill>
                  <a:srgbClr val="003399"/>
                </a:solidFill>
              </a:defRPr>
            </a:lvl1pPr>
            <a:lvl2pPr algn="l">
              <a:buNone/>
              <a:defRPr sz="3375" b="1">
                <a:solidFill>
                  <a:srgbClr val="003399"/>
                </a:solidFill>
              </a:defRPr>
            </a:lvl2pPr>
            <a:lvl3pPr algn="l">
              <a:buNone/>
              <a:defRPr sz="3375" b="1">
                <a:solidFill>
                  <a:srgbClr val="003399"/>
                </a:solidFill>
              </a:defRPr>
            </a:lvl3pPr>
            <a:lvl4pPr algn="l">
              <a:buNone/>
              <a:defRPr sz="3375" b="1">
                <a:solidFill>
                  <a:srgbClr val="003399"/>
                </a:solidFill>
              </a:defRPr>
            </a:lvl4pPr>
            <a:lvl5pPr algn="l">
              <a:buNone/>
              <a:defRPr sz="3375" b="1">
                <a:solidFill>
                  <a:srgbClr val="003399"/>
                </a:solidFill>
              </a:defRPr>
            </a:lvl5pPr>
            <a:lvl6pPr algn="l">
              <a:buNone/>
              <a:defRPr sz="3375" b="1">
                <a:solidFill>
                  <a:srgbClr val="003399"/>
                </a:solidFill>
              </a:defRPr>
            </a:lvl6pPr>
            <a:lvl7pPr algn="l">
              <a:buNone/>
              <a:defRPr sz="3375" b="1">
                <a:solidFill>
                  <a:srgbClr val="003399"/>
                </a:solidFill>
              </a:defRPr>
            </a:lvl7pPr>
            <a:lvl8pPr algn="l">
              <a:buNone/>
              <a:defRPr sz="3375" b="1">
                <a:solidFill>
                  <a:srgbClr val="003399"/>
                </a:solidFill>
              </a:defRPr>
            </a:lvl8pPr>
            <a:lvl9pPr algn="l">
              <a:buNone/>
              <a:defRPr sz="3375" b="1">
                <a:solidFill>
                  <a:srgbClr val="003399"/>
                </a:solidFill>
              </a:defRPr>
            </a:lvl9pPr>
          </a:lstStyle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Practical Impacts · SDG 4.4 / 4.5</a:t>
            </a:r>
          </a:p>
        </p:txBody>
      </p:sp>
      <p:sp>
        <p:nvSpPr>
          <p:cNvPr id="34" name="real-world">
            <a:extLst xmlns:a="http://schemas.openxmlformats.org/drawingml/2006/main">
              <a:ext uri="{FF2B5EF4-FFF2-40B4-BE49-F238E27FC236}">
                <a16:creationId xmlns:a16="http://schemas.microsoft.com/office/drawing/2014/main" id="{2199F087-3016-48E4-80F0-4F875A71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17" y="11906250"/>
            <a:ext cx="110490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300" b="0">
                <a:solidFill>
                  <a:srgbClr val="212A33"/>
                </a:solidFill>
              </a:defRPr>
            </a:defPPr>
            <a:lvl1pPr algn="l">
              <a:buNone/>
              <a:defRPr sz="3300" b="0">
                <a:solidFill>
                  <a:srgbClr val="212A33"/>
                </a:solidFill>
              </a:defRPr>
            </a:lvl1pPr>
            <a:lvl2pPr algn="l">
              <a:buNone/>
              <a:defRPr sz="3300" b="0">
                <a:solidFill>
                  <a:srgbClr val="212A33"/>
                </a:solidFill>
              </a:defRPr>
            </a:lvl2pPr>
            <a:lvl3pPr algn="l">
              <a:buNone/>
              <a:defRPr sz="3300" b="0">
                <a:solidFill>
                  <a:srgbClr val="212A33"/>
                </a:solidFill>
              </a:defRPr>
            </a:lvl3pPr>
            <a:lvl4pPr algn="l">
              <a:buNone/>
              <a:defRPr sz="3300" b="0">
                <a:solidFill>
                  <a:srgbClr val="212A33"/>
                </a:solidFill>
              </a:defRPr>
            </a:lvl4pPr>
            <a:lvl5pPr algn="l">
              <a:buNone/>
              <a:defRPr sz="3300" b="0">
                <a:solidFill>
                  <a:srgbClr val="212A33"/>
                </a:solidFill>
              </a:defRPr>
            </a:lvl5pPr>
            <a:lvl6pPr algn="l">
              <a:buNone/>
              <a:defRPr sz="3300" b="0">
                <a:solidFill>
                  <a:srgbClr val="212A33"/>
                </a:solidFill>
              </a:defRPr>
            </a:lvl6pPr>
            <a:lvl7pPr algn="l">
              <a:buNone/>
              <a:defRPr sz="3300" b="0">
                <a:solidFill>
                  <a:srgbClr val="212A33"/>
                </a:solidFill>
              </a:defRPr>
            </a:lvl7pPr>
            <a:lvl8pPr algn="l">
              <a:buNone/>
              <a:defRPr sz="3300" b="0">
                <a:solidFill>
                  <a:srgbClr val="212A33"/>
                </a:solidFill>
              </a:defRPr>
            </a:lvl8pPr>
            <a:lvl9pPr algn="l">
              <a:buNone/>
              <a:defRPr sz="3300" b="0">
                <a:solidFill>
                  <a:srgbClr val="212A33"/>
                </a:solidFill>
              </a:defRPr>
            </a:lvl9pPr>
          </a:lstStyle>
          <a:p xmlns:a="http://schemas.openxmlformats.org/drawingml/2006/main">
            <a:pPr algn="l">
              <a:buNone/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3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5" name="interdisciplinary-heading">
            <a:extLst xmlns:a="http://schemas.openxmlformats.org/drawingml/2006/main">
              <a:ext uri="{FF2B5EF4-FFF2-40B4-BE49-F238E27FC236}">
                <a16:creationId xmlns:a16="http://schemas.microsoft.com/office/drawing/2014/main" id="{1E996ED0-A32A-4617-8E65-E6ED026E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17" y="191928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375" b="1">
                <a:solidFill>
                  <a:srgbClr val="003399"/>
                </a:solidFill>
              </a:defRPr>
            </a:defPPr>
            <a:lvl1pPr algn="l">
              <a:buNone/>
              <a:defRPr sz="3375" b="1">
                <a:solidFill>
                  <a:srgbClr val="003399"/>
                </a:solidFill>
              </a:defRPr>
            </a:lvl1pPr>
            <a:lvl2pPr algn="l">
              <a:buNone/>
              <a:defRPr sz="3375" b="1">
                <a:solidFill>
                  <a:srgbClr val="003399"/>
                </a:solidFill>
              </a:defRPr>
            </a:lvl2pPr>
            <a:lvl3pPr algn="l">
              <a:buNone/>
              <a:defRPr sz="3375" b="1">
                <a:solidFill>
                  <a:srgbClr val="003399"/>
                </a:solidFill>
              </a:defRPr>
            </a:lvl3pPr>
            <a:lvl4pPr algn="l">
              <a:buNone/>
              <a:defRPr sz="3375" b="1">
                <a:solidFill>
                  <a:srgbClr val="003399"/>
                </a:solidFill>
              </a:defRPr>
            </a:lvl4pPr>
            <a:lvl5pPr algn="l">
              <a:buNone/>
              <a:defRPr sz="3375" b="1">
                <a:solidFill>
                  <a:srgbClr val="003399"/>
                </a:solidFill>
              </a:defRPr>
            </a:lvl5pPr>
            <a:lvl6pPr algn="l">
              <a:buNone/>
              <a:defRPr sz="3375" b="1">
                <a:solidFill>
                  <a:srgbClr val="003399"/>
                </a:solidFill>
              </a:defRPr>
            </a:lvl6pPr>
            <a:lvl7pPr algn="l">
              <a:buNone/>
              <a:defRPr sz="3375" b="1">
                <a:solidFill>
                  <a:srgbClr val="003399"/>
                </a:solidFill>
              </a:defRPr>
            </a:lvl7pPr>
            <a:lvl8pPr algn="l">
              <a:buNone/>
              <a:defRPr sz="3375" b="1">
                <a:solidFill>
                  <a:srgbClr val="003399"/>
                </a:solidFill>
              </a:defRPr>
            </a:lvl8pPr>
            <a:lvl9pPr algn="l">
              <a:buNone/>
              <a:defRPr sz="3375" b="1">
                <a:solidFill>
                  <a:srgbClr val="003399"/>
                </a:solidFill>
              </a:defRPr>
            </a:lvl9pPr>
          </a:lstStyle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Future Research Roadmap</a:t>
            </a:r>
          </a:p>
        </p:txBody>
      </p:sp>
      <p:sp>
        <p:nvSpPr>
          <p:cNvPr id="36" name="interdisciplinary">
            <a:extLst xmlns:a="http://schemas.openxmlformats.org/drawingml/2006/main">
              <a:ext uri="{FF2B5EF4-FFF2-40B4-BE49-F238E27FC236}">
                <a16:creationId xmlns:a16="http://schemas.microsoft.com/office/drawing/2014/main" id="{91D1D813-AECB-4965-9667-285D2DDC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17" y="19907250"/>
            <a:ext cx="11049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225" b="0">
                <a:solidFill>
                  <a:srgbClr val="212A33"/>
                </a:solidFill>
              </a:defRPr>
            </a:defPPr>
            <a:lvl1pPr algn="l">
              <a:buNone/>
              <a:defRPr sz="3225" b="0">
                <a:solidFill>
                  <a:srgbClr val="212A33"/>
                </a:solidFill>
              </a:defRPr>
            </a:lvl1pPr>
            <a:lvl2pPr algn="l">
              <a:buNone/>
              <a:defRPr sz="3225" b="0">
                <a:solidFill>
                  <a:srgbClr val="212A33"/>
                </a:solidFill>
              </a:defRPr>
            </a:lvl2pPr>
            <a:lvl3pPr algn="l">
              <a:buNone/>
              <a:defRPr sz="3225" b="0">
                <a:solidFill>
                  <a:srgbClr val="212A33"/>
                </a:solidFill>
              </a:defRPr>
            </a:lvl3pPr>
            <a:lvl4pPr algn="l">
              <a:buNone/>
              <a:defRPr sz="3225" b="0">
                <a:solidFill>
                  <a:srgbClr val="212A33"/>
                </a:solidFill>
              </a:defRPr>
            </a:lvl4pPr>
            <a:lvl5pPr algn="l">
              <a:buNone/>
              <a:defRPr sz="3225" b="0">
                <a:solidFill>
                  <a:srgbClr val="212A33"/>
                </a:solidFill>
              </a:defRPr>
            </a:lvl5pPr>
            <a:lvl6pPr algn="l">
              <a:buNone/>
              <a:defRPr sz="3225" b="0">
                <a:solidFill>
                  <a:srgbClr val="212A33"/>
                </a:solidFill>
              </a:defRPr>
            </a:lvl6pPr>
            <a:lvl7pPr algn="l">
              <a:buNone/>
              <a:defRPr sz="3225" b="0">
                <a:solidFill>
                  <a:srgbClr val="212A33"/>
                </a:solidFill>
              </a:defRPr>
            </a:lvl7pPr>
            <a:lvl8pPr algn="l">
              <a:buNone/>
              <a:defRPr sz="3225" b="0">
                <a:solidFill>
                  <a:srgbClr val="212A33"/>
                </a:solidFill>
              </a:defRPr>
            </a:lvl8pPr>
            <a:lvl9pPr algn="l">
              <a:buNone/>
              <a:defRPr sz="3225" b="0">
                <a:solidFill>
                  <a:srgbClr val="212A33"/>
                </a:solidFill>
              </a:defRPr>
            </a:lvl9pPr>
          </a:lstStyle>
          <a:p xmlns:a="http://schemas.openxmlformats.org/drawingml/2006/main">
            <a:pPr algn="l">
              <a:buNone/>
              <a:defRPr sz="32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2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4CE48EC-E121-4C2A-81BE-8C70F6F4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907750"/>
            <a:ext cx="40137017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41" name="ack-heading">
            <a:extLst xmlns:a="http://schemas.openxmlformats.org/drawingml/2006/main">
              <a:ext uri="{FF2B5EF4-FFF2-40B4-BE49-F238E27FC236}">
                <a16:creationId xmlns:a16="http://schemas.microsoft.com/office/drawing/2014/main" id="{CC1B0A45-EEBC-4636-8C8B-F8804355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193500"/>
            <a:ext cx="2000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375" b="1">
                <a:solidFill>
                  <a:srgbClr val="003399"/>
                </a:solidFill>
              </a:defRPr>
            </a:defPPr>
            <a:lvl1pPr algn="l">
              <a:buNone/>
              <a:defRPr sz="3375" b="1">
                <a:solidFill>
                  <a:srgbClr val="003399"/>
                </a:solidFill>
              </a:defRPr>
            </a:lvl1pPr>
            <a:lvl2pPr algn="l">
              <a:buNone/>
              <a:defRPr sz="3375" b="1">
                <a:solidFill>
                  <a:srgbClr val="003399"/>
                </a:solidFill>
              </a:defRPr>
            </a:lvl2pPr>
            <a:lvl3pPr algn="l">
              <a:buNone/>
              <a:defRPr sz="3375" b="1">
                <a:solidFill>
                  <a:srgbClr val="003399"/>
                </a:solidFill>
              </a:defRPr>
            </a:lvl3pPr>
            <a:lvl4pPr algn="l">
              <a:buNone/>
              <a:defRPr sz="3375" b="1">
                <a:solidFill>
                  <a:srgbClr val="003399"/>
                </a:solidFill>
              </a:defRPr>
            </a:lvl4pPr>
            <a:lvl5pPr algn="l">
              <a:buNone/>
              <a:defRPr sz="3375" b="1">
                <a:solidFill>
                  <a:srgbClr val="003399"/>
                </a:solidFill>
              </a:defRPr>
            </a:lvl5pPr>
            <a:lvl6pPr algn="l">
              <a:buNone/>
              <a:defRPr sz="3375" b="1">
                <a:solidFill>
                  <a:srgbClr val="003399"/>
                </a:solidFill>
              </a:defRPr>
            </a:lvl6pPr>
            <a:lvl7pPr algn="l">
              <a:buNone/>
              <a:defRPr sz="3375" b="1">
                <a:solidFill>
                  <a:srgbClr val="003399"/>
                </a:solidFill>
              </a:defRPr>
            </a:lvl7pPr>
            <a:lvl8pPr algn="l">
              <a:buNone/>
              <a:defRPr sz="3375" b="1">
                <a:solidFill>
                  <a:srgbClr val="003399"/>
                </a:solidFill>
              </a:defRPr>
            </a:lvl8pPr>
            <a:lvl9pPr algn="l">
              <a:buNone/>
              <a:defRPr sz="3375" b="1">
                <a:solidFill>
                  <a:srgbClr val="003399"/>
                </a:solidFill>
              </a:defRPr>
            </a:lvl9pPr>
          </a:lstStyle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Full acknowledgments</a:t>
            </a:r>
          </a:p>
        </p:txBody>
      </p:sp>
      <p:sp>
        <p:nvSpPr>
          <p:cNvPr id="42" name="ack">
            <a:extLst xmlns:a="http://schemas.openxmlformats.org/drawingml/2006/main">
              <a:ext uri="{FF2B5EF4-FFF2-40B4-BE49-F238E27FC236}">
                <a16:creationId xmlns:a16="http://schemas.microsoft.com/office/drawing/2014/main" id="{1C589FA2-42B8-4C7A-9C87-A446B786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860250"/>
            <a:ext cx="2000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0">
                <a:solidFill>
                  <a:srgbClr val="212A33"/>
                </a:solidFill>
              </a:defRPr>
            </a:defPPr>
            <a:lvl1pPr algn="l">
              <a:buNone/>
              <a:defRPr sz="2325" b="0">
                <a:solidFill>
                  <a:srgbClr val="212A33"/>
                </a:solidFill>
              </a:defRPr>
            </a:lvl1pPr>
            <a:lvl2pPr algn="l">
              <a:buNone/>
              <a:defRPr sz="2325" b="0">
                <a:solidFill>
                  <a:srgbClr val="212A33"/>
                </a:solidFill>
              </a:defRPr>
            </a:lvl2pPr>
            <a:lvl3pPr algn="l">
              <a:buNone/>
              <a:defRPr sz="2325" b="0">
                <a:solidFill>
                  <a:srgbClr val="212A33"/>
                </a:solidFill>
              </a:defRPr>
            </a:lvl3pPr>
            <a:lvl4pPr algn="l">
              <a:buNone/>
              <a:defRPr sz="2325" b="0">
                <a:solidFill>
                  <a:srgbClr val="212A33"/>
                </a:solidFill>
              </a:defRPr>
            </a:lvl4pPr>
            <a:lvl5pPr algn="l">
              <a:buNone/>
              <a:defRPr sz="2325" b="0">
                <a:solidFill>
                  <a:srgbClr val="212A33"/>
                </a:solidFill>
              </a:defRPr>
            </a:lvl5pPr>
            <a:lvl6pPr algn="l">
              <a:buNone/>
              <a:defRPr sz="2325" b="0">
                <a:solidFill>
                  <a:srgbClr val="212A33"/>
                </a:solidFill>
              </a:defRPr>
            </a:lvl6pPr>
            <a:lvl7pPr algn="l">
              <a:buNone/>
              <a:defRPr sz="2325" b="0">
                <a:solidFill>
                  <a:srgbClr val="212A33"/>
                </a:solidFill>
              </a:defRPr>
            </a:lvl7pPr>
            <a:lvl8pPr algn="l">
              <a:buNone/>
              <a:defRPr sz="2325" b="0">
                <a:solidFill>
                  <a:srgbClr val="212A33"/>
                </a:solidFill>
              </a:defRPr>
            </a:lvl8pPr>
            <a:lvl9pPr algn="l">
              <a:buNone/>
              <a:defRPr sz="2325" b="0">
                <a:solidFill>
                  <a:srgbClr val="212A33"/>
                </a:solidFill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I thank Prof. Luyao Zhang for suggesting AI sycophancy and separating well-being from engagement; Prof. Kenneth S. (Ken) Rogerson for his privacy question; Han Zhang for suggesting an honesty benchmark; Feiyu Li for questioning market-demand claims; Qingyue Liu for reviewing reproducibility, costs and access; and Yitong Lin and Qingyue Liu for their auditing and peer-prediction references, Incentive Clarity Award and accuracy–tone test suggestion. Longfei Jing contributed a PS1 review and Session F discussion; Tian Liang reviewed healthy recommendation algorithms; Zhengjun He joined the Session F discussion. Tencent's Shanghai office and the Shanghai Science and Technology Museum informed the field-learning reflections. I also thank the COMSCI/ECON 206 classroom community for feedback. The analysis draws on the cited research, Nashpy, Innovation Studio and official UN materials. I acknowledge GPT-6 Astra and GPT-6.1 Sol for assistance with assignment interpretation, writing and revision, references, figures, LaTeX, the Hugging Face and Colab materials, poster, README files and code verification (Appendix A.1). I remain responsible for this work's originality, accuracy and integrity.</a:t>
            </a:r>
          </a:p>
        </p:txBody>
      </p:sp>
      <p:sp>
        <p:nvSpPr>
          <p:cNvPr id="43" name="references-heading">
            <a:extLst xmlns:a="http://schemas.openxmlformats.org/drawingml/2006/main">
              <a:ext uri="{FF2B5EF4-FFF2-40B4-BE49-F238E27FC236}">
                <a16:creationId xmlns:a16="http://schemas.microsoft.com/office/drawing/2014/main" id="{E7EA3AAE-744F-4F03-A737-D3056A09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0" y="24193500"/>
            <a:ext cx="1895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375" b="1">
                <a:solidFill>
                  <a:srgbClr val="003399"/>
                </a:solidFill>
              </a:defRPr>
            </a:defPPr>
            <a:lvl1pPr algn="l">
              <a:buNone/>
              <a:defRPr sz="3375" b="1">
                <a:solidFill>
                  <a:srgbClr val="003399"/>
                </a:solidFill>
              </a:defRPr>
            </a:lvl1pPr>
            <a:lvl2pPr algn="l">
              <a:buNone/>
              <a:defRPr sz="3375" b="1">
                <a:solidFill>
                  <a:srgbClr val="003399"/>
                </a:solidFill>
              </a:defRPr>
            </a:lvl2pPr>
            <a:lvl3pPr algn="l">
              <a:buNone/>
              <a:defRPr sz="3375" b="1">
                <a:solidFill>
                  <a:srgbClr val="003399"/>
                </a:solidFill>
              </a:defRPr>
            </a:lvl3pPr>
            <a:lvl4pPr algn="l">
              <a:buNone/>
              <a:defRPr sz="3375" b="1">
                <a:solidFill>
                  <a:srgbClr val="003399"/>
                </a:solidFill>
              </a:defRPr>
            </a:lvl4pPr>
            <a:lvl5pPr algn="l">
              <a:buNone/>
              <a:defRPr sz="3375" b="1">
                <a:solidFill>
                  <a:srgbClr val="003399"/>
                </a:solidFill>
              </a:defRPr>
            </a:lvl5pPr>
            <a:lvl6pPr algn="l">
              <a:buNone/>
              <a:defRPr sz="3375" b="1">
                <a:solidFill>
                  <a:srgbClr val="003399"/>
                </a:solidFill>
              </a:defRPr>
            </a:lvl6pPr>
            <a:lvl7pPr algn="l">
              <a:buNone/>
              <a:defRPr sz="3375" b="1">
                <a:solidFill>
                  <a:srgbClr val="003399"/>
                </a:solidFill>
              </a:defRPr>
            </a:lvl7pPr>
            <a:lvl8pPr algn="l">
              <a:buNone/>
              <a:defRPr sz="3375" b="1">
                <a:solidFill>
                  <a:srgbClr val="003399"/>
                </a:solidFill>
              </a:defRPr>
            </a:lvl8pPr>
            <a:lvl9pPr algn="l">
              <a:buNone/>
              <a:defRPr sz="3375" b="1">
                <a:solidFill>
                  <a:srgbClr val="003399"/>
                </a:solidFill>
              </a:defRPr>
            </a:lvl9pPr>
          </a:lstStyle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References · contribution · open materials</a:t>
            </a:r>
          </a:p>
        </p:txBody>
      </p:sp>
      <p:sp>
        <p:nvSpPr>
          <p:cNvPr id="44" name="references">
            <a:extLst xmlns:a="http://schemas.openxmlformats.org/drawingml/2006/main">
              <a:ext uri="{FF2B5EF4-FFF2-40B4-BE49-F238E27FC236}">
                <a16:creationId xmlns:a16="http://schemas.microsoft.com/office/drawing/2014/main" id="{0ECEF328-5F03-4179-A929-2458DB1F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0" y="24860250"/>
            <a:ext cx="18954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0">
                <a:solidFill>
                  <a:srgbClr val="212A33"/>
                </a:solidFill>
              </a:defRPr>
            </a:defPPr>
            <a:lvl1pPr algn="l">
              <a:buNone/>
              <a:defRPr sz="2325" b="0">
                <a:solidFill>
                  <a:srgbClr val="212A33"/>
                </a:solidFill>
              </a:defRPr>
            </a:lvl1pPr>
            <a:lvl2pPr algn="l">
              <a:buNone/>
              <a:defRPr sz="2325" b="0">
                <a:solidFill>
                  <a:srgbClr val="212A33"/>
                </a:solidFill>
              </a:defRPr>
            </a:lvl2pPr>
            <a:lvl3pPr algn="l">
              <a:buNone/>
              <a:defRPr sz="2325" b="0">
                <a:solidFill>
                  <a:srgbClr val="212A33"/>
                </a:solidFill>
              </a:defRPr>
            </a:lvl3pPr>
            <a:lvl4pPr algn="l">
              <a:buNone/>
              <a:defRPr sz="2325" b="0">
                <a:solidFill>
                  <a:srgbClr val="212A33"/>
                </a:solidFill>
              </a:defRPr>
            </a:lvl4pPr>
            <a:lvl5pPr algn="l">
              <a:buNone/>
              <a:defRPr sz="2325" b="0">
                <a:solidFill>
                  <a:srgbClr val="212A33"/>
                </a:solidFill>
              </a:defRPr>
            </a:lvl5pPr>
            <a:lvl6pPr algn="l">
              <a:buNone/>
              <a:defRPr sz="2325" b="0">
                <a:solidFill>
                  <a:srgbClr val="212A33"/>
                </a:solidFill>
              </a:defRPr>
            </a:lvl6pPr>
            <a:lvl7pPr algn="l">
              <a:buNone/>
              <a:defRPr sz="2325" b="0">
                <a:solidFill>
                  <a:srgbClr val="212A33"/>
                </a:solidFill>
              </a:defRPr>
            </a:lvl7pPr>
            <a:lvl8pPr algn="l">
              <a:buNone/>
              <a:defRPr sz="2325" b="0">
                <a:solidFill>
                  <a:srgbClr val="212A33"/>
                </a:solidFill>
              </a:defRPr>
            </a:lvl8pPr>
            <a:lvl9pPr algn="l">
              <a:buNone/>
              <a:defRPr sz="2325" b="0">
                <a:solidFill>
                  <a:srgbClr val="212A33"/>
                </a:solidFill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[1] Miller, N., Resnick, P. &amp; Zeckhauser, R. 2005. Eliciting Informative Feedback: The Peer-Prediction Method. Management Science 51(9), 1359–1373. doi:10.1287/mnsc.1050.0379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[2] Witkowski, J., Bachrach, Y., Key, P. &amp; Parkes, D.C. 2013. Dwelling on the Negative: Incentivizing Effort in Peer Prediction. HCOMP 1(1), 190–197. doi:10.1609/hcomp.v1i1.13089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[3] Yuan, D. &amp; Zhang, J. 2026. When Complaints Go Quiet: Provider Strategy and Regulatory Design of AI Sycophancy. SSRN. doi:10.2139/ssrn.7455658</a:t>
            </a:r>
          </a:p>
        </p:txBody>
      </p:sp>
      <p:sp>
        <p:nvSpPr>
          <p:cNvPr id="45" name="access-heading">
            <a:extLst xmlns:a="http://schemas.openxmlformats.org/drawingml/2006/main">
              <a:ext uri="{FF2B5EF4-FFF2-40B4-BE49-F238E27FC236}">
                <a16:creationId xmlns:a16="http://schemas.microsoft.com/office/drawing/2014/main" id="{49F540C3-5DD7-4CE8-9BCD-20A72A49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0" y="2890837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003399"/>
                </a:solidFill>
              </a:defRPr>
            </a:defPPr>
            <a:lvl1pPr algn="l">
              <a:buNone/>
              <a:defRPr sz="2400" b="1">
                <a:solidFill>
                  <a:srgbClr val="003399"/>
                </a:solidFill>
              </a:defRPr>
            </a:lvl1pPr>
            <a:lvl2pPr algn="l">
              <a:buNone/>
              <a:defRPr sz="2400" b="1">
                <a:solidFill>
                  <a:srgbClr val="003399"/>
                </a:solidFill>
              </a:defRPr>
            </a:lvl2pPr>
            <a:lvl3pPr algn="l">
              <a:buNone/>
              <a:defRPr sz="2400" b="1">
                <a:solidFill>
                  <a:srgbClr val="003399"/>
                </a:solidFill>
              </a:defRPr>
            </a:lvl3pPr>
            <a:lvl4pPr algn="l">
              <a:buNone/>
              <a:defRPr sz="2400" b="1">
                <a:solidFill>
                  <a:srgbClr val="003399"/>
                </a:solidFill>
              </a:defRPr>
            </a:lvl4pPr>
            <a:lvl5pPr algn="l">
              <a:buNone/>
              <a:defRPr sz="2400" b="1">
                <a:solidFill>
                  <a:srgbClr val="003399"/>
                </a:solidFill>
              </a:defRPr>
            </a:lvl5pPr>
            <a:lvl6pPr algn="l">
              <a:buNone/>
              <a:defRPr sz="2400" b="1">
                <a:solidFill>
                  <a:srgbClr val="003399"/>
                </a:solidFill>
              </a:defRPr>
            </a:lvl6pPr>
            <a:lvl7pPr algn="l">
              <a:buNone/>
              <a:defRPr sz="2400" b="1">
                <a:solidFill>
                  <a:srgbClr val="003399"/>
                </a:solidFill>
              </a:defRPr>
            </a:lvl7pPr>
            <a:lvl8pPr algn="l">
              <a:buNone/>
              <a:defRPr sz="2400" b="1">
                <a:solidFill>
                  <a:srgbClr val="003399"/>
                </a:solidFill>
              </a:defRPr>
            </a:lvl8pPr>
            <a:lvl9pPr algn="l">
              <a:buNone/>
              <a:defRPr sz="2400" b="1">
                <a:solidFill>
                  <a:srgbClr val="003399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6" name="access-links">
            <a:extLst xmlns:a="http://schemas.openxmlformats.org/drawingml/2006/main">
              <a:ext uri="{FF2B5EF4-FFF2-40B4-BE49-F238E27FC236}">
                <a16:creationId xmlns:a16="http://schemas.microsoft.com/office/drawing/2014/main" id="{35C264DA-792D-48F7-AE3C-F21A5E9A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0" y="28956000"/>
            <a:ext cx="1895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250" b="0">
                <a:solidFill>
                  <a:srgbClr val="212A33"/>
                </a:solidFill>
              </a:defRPr>
            </a:defPPr>
            <a:lvl1pPr algn="l">
              <a:buNone/>
              <a:defRPr sz="2250" b="0">
                <a:solidFill>
                  <a:srgbClr val="212A33"/>
                </a:solidFill>
              </a:defRPr>
            </a:lvl1pPr>
            <a:lvl2pPr algn="l">
              <a:buNone/>
              <a:defRPr sz="2250" b="0">
                <a:solidFill>
                  <a:srgbClr val="212A33"/>
                </a:solidFill>
              </a:defRPr>
            </a:lvl2pPr>
            <a:lvl3pPr algn="l">
              <a:buNone/>
              <a:defRPr sz="2250" b="0">
                <a:solidFill>
                  <a:srgbClr val="212A33"/>
                </a:solidFill>
              </a:defRPr>
            </a:lvl3pPr>
            <a:lvl4pPr algn="l">
              <a:buNone/>
              <a:defRPr sz="2250" b="0">
                <a:solidFill>
                  <a:srgbClr val="212A33"/>
                </a:solidFill>
              </a:defRPr>
            </a:lvl4pPr>
            <a:lvl5pPr algn="l">
              <a:buNone/>
              <a:defRPr sz="2250" b="0">
                <a:solidFill>
                  <a:srgbClr val="212A33"/>
                </a:solidFill>
              </a:defRPr>
            </a:lvl5pPr>
            <a:lvl6pPr algn="l">
              <a:buNone/>
              <a:defRPr sz="2250" b="0">
                <a:solidFill>
                  <a:srgbClr val="212A33"/>
                </a:solidFill>
              </a:defRPr>
            </a:lvl6pPr>
            <a:lvl7pPr algn="l">
              <a:buNone/>
              <a:defRPr sz="2250" b="0">
                <a:solidFill>
                  <a:srgbClr val="212A33"/>
                </a:solidFill>
              </a:defRPr>
            </a:lvl7pPr>
            <a:lvl8pPr algn="l">
              <a:buNone/>
              <a:defRPr sz="2250" b="0">
                <a:solidFill>
                  <a:srgbClr val="212A33"/>
                </a:solidFill>
              </a:defRPr>
            </a:lvl8pPr>
            <a:lvl9pPr algn="l">
              <a:buNone/>
              <a:defRPr sz="2250" b="0">
                <a:solidFill>
                  <a:srgbClr val="212A33"/>
                </a:solidFill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GitHub: github.com/dku-comsci-econ206-Autumn2026/PS2-FP1-Yongzhuo-Wu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HF: huggingface.co/spaces/dku-comsci-econ206-2026/AI-Sycophancy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Notebook: Colab/Final.ipynb</a:t>
            </a:r>
          </a:p>
        </p:txBody>
      </p:sp>
      <p:sp>
        <p:nvSpPr>
          <p:cNvPr id="51" name="format-note">
            <a:extLst xmlns:a="http://schemas.openxmlformats.org/drawingml/2006/main">
              <a:ext uri="{FF2B5EF4-FFF2-40B4-BE49-F238E27FC236}">
                <a16:creationId xmlns:a16="http://schemas.microsoft.com/office/drawing/2014/main" id="{49DEC60E-E378-41A7-B1C9-EC4712C5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000750"/>
            <a:ext cx="2857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56616B"/>
                </a:solidFill>
              </a:defRPr>
            </a:defPPr>
            <a:lvl1pPr algn="l">
              <a:buNone/>
              <a:defRPr sz="1950" b="0">
                <a:solidFill>
                  <a:srgbClr val="56616B"/>
                </a:solidFill>
              </a:defRPr>
            </a:lvl1pPr>
            <a:lvl2pPr algn="l">
              <a:buNone/>
              <a:defRPr sz="1950" b="0">
                <a:solidFill>
                  <a:srgbClr val="56616B"/>
                </a:solidFill>
              </a:defRPr>
            </a:lvl2pPr>
            <a:lvl3pPr algn="l">
              <a:buNone/>
              <a:defRPr sz="1950" b="0">
                <a:solidFill>
                  <a:srgbClr val="56616B"/>
                </a:solidFill>
              </a:defRPr>
            </a:lvl3pPr>
            <a:lvl4pPr algn="l">
              <a:buNone/>
              <a:defRPr sz="1950" b="0">
                <a:solidFill>
                  <a:srgbClr val="56616B"/>
                </a:solidFill>
              </a:defRPr>
            </a:lvl4pPr>
            <a:lvl5pPr algn="l">
              <a:buNone/>
              <a:defRPr sz="1950" b="0">
                <a:solidFill>
                  <a:srgbClr val="56616B"/>
                </a:solidFill>
              </a:defRPr>
            </a:lvl5pPr>
            <a:lvl6pPr algn="l">
              <a:buNone/>
              <a:defRPr sz="1950" b="0">
                <a:solidFill>
                  <a:srgbClr val="56616B"/>
                </a:solidFill>
              </a:defRPr>
            </a:lvl6pPr>
            <a:lvl7pPr algn="l">
              <a:buNone/>
              <a:defRPr sz="1950" b="0">
                <a:solidFill>
                  <a:srgbClr val="56616B"/>
                </a:solidFill>
              </a:defRPr>
            </a:lvl7pPr>
            <a:lvl8pPr algn="l">
              <a:buNone/>
              <a:defRPr sz="1950" b="0">
                <a:solidFill>
                  <a:srgbClr val="56616B"/>
                </a:solidFill>
              </a:defRPr>
            </a:lvl8pPr>
            <a:lvl9pPr algn="l">
              <a:buNone/>
              <a:defRPr sz="1950" b="0">
                <a:solidFill>
                  <a:srgbClr val="56616B"/>
                </a:solidFill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>Conditional model; one author reflection (n=1); purchases, live-LLM tests and learning outcomes remain unobserved.</a:t>
            </a:r>
          </a:p>
        </p:txBody>
      </p:sp>
      <p:sp>
        <p:nvSpPr>
          <p:cNvPr id="59" name="merits-foundation-1">
            <a:extLst xmlns:a="http://schemas.openxmlformats.org/drawingml/2006/main">
              <a:ext uri="{FF2B5EF4-FFF2-40B4-BE49-F238E27FC236}">
                <a16:creationId xmlns:a16="http://schemas.microsoft.com/office/drawing/2014/main" id="{A25CAE05-CC67-4C01-8000-F09CA208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1144250"/>
            <a:ext cx="504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3399"/>
            </a:solidFill>
          </a:ln>
        </p:spPr>
        <p:txBody>
          <a:bodyPr xmlns:a="http://schemas.openxmlformats.org/drawingml/2006/main" lIns="114300" tIns="114300" rIns="114300" bIns="114300"/>
          <a:lstStyle xmlns:a="http://schemas.openxmlformats.org/drawingml/2006/main">
            <a:defPPr>
              <a:defRPr sz="2625" b="0">
                <a:solidFill>
                  <a:srgbClr val="212A33"/>
                </a:solidFill>
              </a:defRPr>
            </a:defPPr>
            <a:lvl1pPr>
              <a:buNone/>
              <a:defRPr sz="2625" b="0">
                <a:solidFill>
                  <a:srgbClr val="212A33"/>
                </a:solidFill>
              </a:defRPr>
            </a:lvl1pPr>
            <a:lvl2pPr>
              <a:buNone/>
              <a:defRPr sz="2625" b="0">
                <a:solidFill>
                  <a:srgbClr val="212A33"/>
                </a:solidFill>
              </a:defRPr>
            </a:lvl2pPr>
            <a:lvl3pPr>
              <a:buNone/>
              <a:defRPr sz="2625" b="0">
                <a:solidFill>
                  <a:srgbClr val="212A33"/>
                </a:solidFill>
              </a:defRPr>
            </a:lvl3pPr>
            <a:lvl4pPr>
              <a:buNone/>
              <a:defRPr sz="2625" b="0">
                <a:solidFill>
                  <a:srgbClr val="212A33"/>
                </a:solidFill>
              </a:defRPr>
            </a:lvl4pPr>
            <a:lvl5pPr>
              <a:buNone/>
              <a:defRPr sz="2625" b="0">
                <a:solidFill>
                  <a:srgbClr val="212A33"/>
                </a:solidFill>
              </a:defRPr>
            </a:lvl5pPr>
            <a:lvl6pPr>
              <a:buNone/>
              <a:defRPr sz="2625" b="0">
                <a:solidFill>
                  <a:srgbClr val="212A33"/>
                </a:solidFill>
              </a:defRPr>
            </a:lvl6pPr>
            <a:lvl7pPr>
              <a:buNone/>
              <a:defRPr sz="2625" b="0">
                <a:solidFill>
                  <a:srgbClr val="212A33"/>
                </a:solidFill>
              </a:defRPr>
            </a:lvl7pPr>
            <a:lvl8pPr>
              <a:buNone/>
              <a:defRPr sz="2625" b="0">
                <a:solidFill>
                  <a:srgbClr val="212A33"/>
                </a:solidFill>
              </a:defRPr>
            </a:lvl8pPr>
            <a:lvl9pPr>
              <a:buNone/>
              <a:defRPr sz="2625" b="0">
                <a:solidFill>
                  <a:srgbClr val="212A33"/>
                </a:solidFill>
              </a:defRPr>
            </a:lvl9pPr>
          </a:lstStyle>
          <a:p xmlns:a="http://schemas.openxmlformats.org/drawingml/2006/main">
            <a:pPr>
              <a:buNone/>
              <a:defRPr sz="2625" b="0">
                <a:solidFill>
                  <a:srgbClr val="212A33"/>
                </a:solidFill>
              </a:defRPr>
            </a:pPr>
            <a:r>
              <a:rPr sz="2625" b="0">
                <a:solidFill>
                  <a:srgbClr val="212A33"/>
                </a:solidFill>
              </a:rPr>
              <a:t>[1] Miller et al.</a:t>
            </a:r>
          </a:p>
          <a:p xmlns:a="http://schemas.openxmlformats.org/drawingml/2006/main">
            <a:pPr>
              <a:buNone/>
              <a:defRPr sz="2625" b="0">
                <a:solidFill>
                  <a:srgbClr val="212A33"/>
                </a:solidFill>
              </a:defRPr>
            </a:pPr>
            <a:r>
              <a:rPr sz="2625" b="0">
                <a:solidFill>
                  <a:srgbClr val="212A33"/>
                </a:solidFill>
              </a:rPr>
              <a:t>Truthful reports</a:t>
            </a:r>
          </a:p>
        </p:txBody>
      </p:sp>
      <p:sp>
        <p:nvSpPr>
          <p:cNvPr id="60" name="merits-foundation-2">
            <a:extLst xmlns:a="http://schemas.openxmlformats.org/drawingml/2006/main">
              <a:ext uri="{FF2B5EF4-FFF2-40B4-BE49-F238E27FC236}">
                <a16:creationId xmlns:a16="http://schemas.microsoft.com/office/drawing/2014/main" id="{47F12CD8-1E89-4303-81E2-CCE6B24A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0" y="11144250"/>
            <a:ext cx="504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3399"/>
            </a:solidFill>
          </a:ln>
        </p:spPr>
        <p:txBody>
          <a:bodyPr xmlns:a="http://schemas.openxmlformats.org/drawingml/2006/main" lIns="114300" tIns="114300" rIns="114300" bIns="114300"/>
          <a:lstStyle xmlns:a="http://schemas.openxmlformats.org/drawingml/2006/main">
            <a:defPPr>
              <a:defRPr sz="2625" b="0">
                <a:solidFill>
                  <a:srgbClr val="212A33"/>
                </a:solidFill>
              </a:defRPr>
            </a:defPPr>
            <a:lvl1pPr>
              <a:buNone/>
              <a:defRPr sz="2625" b="0">
                <a:solidFill>
                  <a:srgbClr val="212A33"/>
                </a:solidFill>
              </a:defRPr>
            </a:lvl1pPr>
            <a:lvl2pPr>
              <a:buNone/>
              <a:defRPr sz="2625" b="0">
                <a:solidFill>
                  <a:srgbClr val="212A33"/>
                </a:solidFill>
              </a:defRPr>
            </a:lvl2pPr>
            <a:lvl3pPr>
              <a:buNone/>
              <a:defRPr sz="2625" b="0">
                <a:solidFill>
                  <a:srgbClr val="212A33"/>
                </a:solidFill>
              </a:defRPr>
            </a:lvl3pPr>
            <a:lvl4pPr>
              <a:buNone/>
              <a:defRPr sz="2625" b="0">
                <a:solidFill>
                  <a:srgbClr val="212A33"/>
                </a:solidFill>
              </a:defRPr>
            </a:lvl4pPr>
            <a:lvl5pPr>
              <a:buNone/>
              <a:defRPr sz="2625" b="0">
                <a:solidFill>
                  <a:srgbClr val="212A33"/>
                </a:solidFill>
              </a:defRPr>
            </a:lvl5pPr>
            <a:lvl6pPr>
              <a:buNone/>
              <a:defRPr sz="2625" b="0">
                <a:solidFill>
                  <a:srgbClr val="212A33"/>
                </a:solidFill>
              </a:defRPr>
            </a:lvl6pPr>
            <a:lvl7pPr>
              <a:buNone/>
              <a:defRPr sz="2625" b="0">
                <a:solidFill>
                  <a:srgbClr val="212A33"/>
                </a:solidFill>
              </a:defRPr>
            </a:lvl7pPr>
            <a:lvl8pPr>
              <a:buNone/>
              <a:defRPr sz="2625" b="0">
                <a:solidFill>
                  <a:srgbClr val="212A33"/>
                </a:solidFill>
              </a:defRPr>
            </a:lvl8pPr>
            <a:lvl9pPr>
              <a:buNone/>
              <a:defRPr sz="2625" b="0">
                <a:solidFill>
                  <a:srgbClr val="212A33"/>
                </a:solidFill>
              </a:defRPr>
            </a:lvl9pPr>
          </a:lstStyle>
          <a:p xmlns:a="http://schemas.openxmlformats.org/drawingml/2006/main">
            <a:pPr>
              <a:buNone/>
              <a:defRPr sz="2625" b="0">
                <a:solidFill>
                  <a:srgbClr val="212A33"/>
                </a:solidFill>
              </a:defRPr>
            </a:pPr>
            <a:r>
              <a:rPr sz="2625" b="0">
                <a:solidFill>
                  <a:srgbClr val="212A33"/>
                </a:solidFill>
              </a:rPr>
              <a:t>[2] Witkowski et al.</a:t>
            </a:r>
          </a:p>
          <a:p xmlns:a="http://schemas.openxmlformats.org/drawingml/2006/main">
            <a:pPr>
              <a:buNone/>
              <a:defRPr sz="2625" b="0">
                <a:solidFill>
                  <a:srgbClr val="212A33"/>
                </a:solidFill>
              </a:defRPr>
            </a:pPr>
            <a:r>
              <a:rPr sz="2625" b="0">
                <a:solidFill>
                  <a:srgbClr val="212A33"/>
                </a:solidFill>
              </a:rPr>
              <a:t>Costly effort</a:t>
            </a:r>
          </a:p>
        </p:txBody>
      </p:sp>
      <p:sp>
        <p:nvSpPr>
          <p:cNvPr id="61" name="merits-foundation-3">
            <a:extLst xmlns:a="http://schemas.openxmlformats.org/drawingml/2006/main">
              <a:ext uri="{FF2B5EF4-FFF2-40B4-BE49-F238E27FC236}">
                <a16:creationId xmlns:a16="http://schemas.microsoft.com/office/drawing/2014/main" id="{BD2C8619-82CD-4C15-A8EA-DC883DDE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0" y="11144250"/>
            <a:ext cx="504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3399"/>
            </a:solidFill>
          </a:ln>
        </p:spPr>
        <p:txBody>
          <a:bodyPr xmlns:a="http://schemas.openxmlformats.org/drawingml/2006/main" lIns="114300" tIns="114300" rIns="114300" bIns="114300"/>
          <a:lstStyle xmlns:a="http://schemas.openxmlformats.org/drawingml/2006/main">
            <a:defPPr>
              <a:defRPr sz="2625" b="0">
                <a:solidFill>
                  <a:srgbClr val="212A33"/>
                </a:solidFill>
              </a:defRPr>
            </a:defPPr>
            <a:lvl1pPr>
              <a:buNone/>
              <a:defRPr sz="2625" b="0">
                <a:solidFill>
                  <a:srgbClr val="212A33"/>
                </a:solidFill>
              </a:defRPr>
            </a:lvl1pPr>
            <a:lvl2pPr>
              <a:buNone/>
              <a:defRPr sz="2625" b="0">
                <a:solidFill>
                  <a:srgbClr val="212A33"/>
                </a:solidFill>
              </a:defRPr>
            </a:lvl2pPr>
            <a:lvl3pPr>
              <a:buNone/>
              <a:defRPr sz="2625" b="0">
                <a:solidFill>
                  <a:srgbClr val="212A33"/>
                </a:solidFill>
              </a:defRPr>
            </a:lvl3pPr>
            <a:lvl4pPr>
              <a:buNone/>
              <a:defRPr sz="2625" b="0">
                <a:solidFill>
                  <a:srgbClr val="212A33"/>
                </a:solidFill>
              </a:defRPr>
            </a:lvl4pPr>
            <a:lvl5pPr>
              <a:buNone/>
              <a:defRPr sz="2625" b="0">
                <a:solidFill>
                  <a:srgbClr val="212A33"/>
                </a:solidFill>
              </a:defRPr>
            </a:lvl5pPr>
            <a:lvl6pPr>
              <a:buNone/>
              <a:defRPr sz="2625" b="0">
                <a:solidFill>
                  <a:srgbClr val="212A33"/>
                </a:solidFill>
              </a:defRPr>
            </a:lvl6pPr>
            <a:lvl7pPr>
              <a:buNone/>
              <a:defRPr sz="2625" b="0">
                <a:solidFill>
                  <a:srgbClr val="212A33"/>
                </a:solidFill>
              </a:defRPr>
            </a:lvl7pPr>
            <a:lvl8pPr>
              <a:buNone/>
              <a:defRPr sz="2625" b="0">
                <a:solidFill>
                  <a:srgbClr val="212A33"/>
                </a:solidFill>
              </a:defRPr>
            </a:lvl8pPr>
            <a:lvl9pPr>
              <a:buNone/>
              <a:defRPr sz="2625" b="0">
                <a:solidFill>
                  <a:srgbClr val="212A33"/>
                </a:solidFill>
              </a:defRPr>
            </a:lvl9pPr>
          </a:lstStyle>
          <a:p xmlns:a="http://schemas.openxmlformats.org/drawingml/2006/main">
            <a:pPr>
              <a:buNone/>
              <a:defRPr sz="2625" b="0">
                <a:solidFill>
                  <a:srgbClr val="212A33"/>
                </a:solidFill>
              </a:defRPr>
            </a:pPr>
            <a:r>
              <a:rPr sz="2625" b="0">
                <a:solidFill>
                  <a:srgbClr val="212A33"/>
                </a:solidFill>
              </a:rPr>
              <a:t>[3] Yuan &amp; Zhang</a:t>
            </a:r>
          </a:p>
          <a:p xmlns:a="http://schemas.openxmlformats.org/drawingml/2006/main">
            <a:pPr>
              <a:buNone/>
              <a:defRPr sz="2625" b="0">
                <a:solidFill>
                  <a:srgbClr val="212A33"/>
                </a:solidFill>
              </a:defRPr>
            </a:pPr>
            <a:r>
              <a:rPr sz="2625" b="0">
                <a:solidFill>
                  <a:srgbClr val="212A33"/>
                </a:solidFill>
              </a:rPr>
              <a:t>Independent auditing</a:t>
            </a:r>
          </a:p>
        </p:txBody>
      </p:sp>
      <p:sp>
        <p:nvSpPr>
          <p:cNvPr id="62" name="merits-arrow">
            <a:extLst xmlns:a="http://schemas.openxmlformats.org/drawingml/2006/main">
              <a:ext uri="{FF2B5EF4-FFF2-40B4-BE49-F238E27FC236}">
                <a16:creationId xmlns:a16="http://schemas.microsoft.com/office/drawing/2014/main" id="{88AA44D6-497D-42F5-A0AD-80A3A087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0" y="12477750"/>
            <a:ext cx="361950" cy="400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3399"/>
          </a:solidFill>
          <a:ln xmlns:a="http://schemas.openxmlformats.org/drawingml/2006/main" w="0">
            <a:solidFill>
              <a:srgbClr val="003399"/>
            </a:solidFill>
          </a:ln>
        </p:spPr>
      </p:sp>
      <p:sp>
        <p:nvSpPr>
          <p:cNvPr id="63" name="merits-contribution">
            <a:extLst xmlns:a="http://schemas.openxmlformats.org/drawingml/2006/main">
              <a:ext uri="{FF2B5EF4-FFF2-40B4-BE49-F238E27FC236}">
                <a16:creationId xmlns:a16="http://schemas.microsoft.com/office/drawing/2014/main" id="{97F7379A-5C8C-41D4-9DC2-400C3AD5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2954000"/>
            <a:ext cx="16097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3399"/>
            </a:solidFill>
          </a:ln>
        </p:spPr>
        <p:txBody>
          <a:bodyPr xmlns:a="http://schemas.openxmlformats.org/drawingml/2006/main" lIns="114300" tIns="114300" rIns="114300" bIns="114300"/>
          <a:lstStyle xmlns:a="http://schemas.openxmlformats.org/drawingml/2006/main">
            <a:defPPr>
              <a:defRPr sz="2850" b="0">
                <a:solidFill>
                  <a:srgbClr val="212A33"/>
                </a:solidFill>
              </a:defRPr>
            </a:defPPr>
            <a:lvl1pPr>
              <a:buNone/>
              <a:defRPr sz="2850" b="0">
                <a:solidFill>
                  <a:srgbClr val="212A33"/>
                </a:solidFill>
              </a:defRPr>
            </a:lvl1pPr>
            <a:lvl2pPr>
              <a:buNone/>
              <a:defRPr sz="2850" b="0">
                <a:solidFill>
                  <a:srgbClr val="212A33"/>
                </a:solidFill>
              </a:defRPr>
            </a:lvl2pPr>
            <a:lvl3pPr>
              <a:buNone/>
              <a:defRPr sz="2850" b="0">
                <a:solidFill>
                  <a:srgbClr val="212A33"/>
                </a:solidFill>
              </a:defRPr>
            </a:lvl3pPr>
            <a:lvl4pPr>
              <a:buNone/>
              <a:defRPr sz="2850" b="0">
                <a:solidFill>
                  <a:srgbClr val="212A33"/>
                </a:solidFill>
              </a:defRPr>
            </a:lvl4pPr>
            <a:lvl5pPr>
              <a:buNone/>
              <a:defRPr sz="2850" b="0">
                <a:solidFill>
                  <a:srgbClr val="212A33"/>
                </a:solidFill>
              </a:defRPr>
            </a:lvl5pPr>
            <a:lvl6pPr>
              <a:buNone/>
              <a:defRPr sz="2850" b="0">
                <a:solidFill>
                  <a:srgbClr val="212A33"/>
                </a:solidFill>
              </a:defRPr>
            </a:lvl6pPr>
            <a:lvl7pPr>
              <a:buNone/>
              <a:defRPr sz="2850" b="0">
                <a:solidFill>
                  <a:srgbClr val="212A33"/>
                </a:solidFill>
              </a:defRPr>
            </a:lvl7pPr>
            <a:lvl8pPr>
              <a:buNone/>
              <a:defRPr sz="2850" b="0">
                <a:solidFill>
                  <a:srgbClr val="212A33"/>
                </a:solidFill>
              </a:defRPr>
            </a:lvl8pPr>
            <a:lvl9pPr>
              <a:buNone/>
              <a:defRPr sz="2850" b="0">
                <a:solidFill>
                  <a:srgbClr val="212A33"/>
                </a:solidFill>
              </a:defRPr>
            </a:lvl9pPr>
          </a:lstStyle>
          <a:p xmlns:a="http://schemas.openxmlformats.org/drawingml/2006/main">
            <a:pPr>
              <a:buNone/>
              <a:defRPr sz="2850" b="0">
                <a:solidFill>
                  <a:srgbClr val="212A33"/>
                </a:solidFill>
              </a:defRPr>
            </a:pPr>
            <a:r>
              <a:rPr sz="2850" b="0">
                <a:solidFill>
                  <a:srgbClr val="212A33"/>
                </a:solidFill>
              </a:rPr>
              <a:t>This application: capacity → auction / funded lottery → independent check → release or refund</a:t>
            </a:r>
          </a:p>
        </p:txBody>
      </p:sp>
      <p:sp>
        <p:nvSpPr>
          <p:cNvPr id="64" name="merits-evidence-arrow">
            <a:extLst xmlns:a="http://schemas.openxmlformats.org/drawingml/2006/main">
              <a:ext uri="{FF2B5EF4-FFF2-40B4-BE49-F238E27FC236}">
                <a16:creationId xmlns:a16="http://schemas.microsoft.com/office/drawing/2014/main" id="{B53496C4-9C8B-42FA-B171-DF260FCF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0" y="14097000"/>
            <a:ext cx="361950" cy="400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3399"/>
          </a:solidFill>
          <a:ln xmlns:a="http://schemas.openxmlformats.org/drawingml/2006/main" w="0">
            <a:solidFill>
              <a:srgbClr val="003399"/>
            </a:solidFill>
          </a:ln>
        </p:spPr>
      </p:sp>
      <p:sp>
        <p:nvSpPr>
          <p:cNvPr id="65" name="merits-evidence">
            <a:extLst xmlns:a="http://schemas.openxmlformats.org/drawingml/2006/main">
              <a:ext uri="{FF2B5EF4-FFF2-40B4-BE49-F238E27FC236}">
                <a16:creationId xmlns:a16="http://schemas.microsoft.com/office/drawing/2014/main" id="{4AB32181-909E-4333-BC33-AF1B89A6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4573250"/>
            <a:ext cx="16097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633"/>
            </a:solidFill>
          </a:ln>
        </p:spPr>
        <p:txBody>
          <a:bodyPr xmlns:a="http://schemas.openxmlformats.org/drawingml/2006/main" lIns="114300" tIns="114300" rIns="114300" bIns="114300"/>
          <a:lstStyle xmlns:a="http://schemas.openxmlformats.org/drawingml/2006/main">
            <a:defPPr>
              <a:defRPr sz="2700" b="0">
                <a:solidFill>
                  <a:srgbClr val="212A33"/>
                </a:solidFill>
              </a:defRPr>
            </a:defPPr>
            <a:lvl1pPr>
              <a:buNone/>
              <a:defRPr sz="2700" b="0">
                <a:solidFill>
                  <a:srgbClr val="212A33"/>
                </a:solidFill>
              </a:defRPr>
            </a:lvl1pPr>
            <a:lvl2pPr>
              <a:buNone/>
              <a:defRPr sz="2700" b="0">
                <a:solidFill>
                  <a:srgbClr val="212A33"/>
                </a:solidFill>
              </a:defRPr>
            </a:lvl2pPr>
            <a:lvl3pPr>
              <a:buNone/>
              <a:defRPr sz="2700" b="0">
                <a:solidFill>
                  <a:srgbClr val="212A33"/>
                </a:solidFill>
              </a:defRPr>
            </a:lvl3pPr>
            <a:lvl4pPr>
              <a:buNone/>
              <a:defRPr sz="2700" b="0">
                <a:solidFill>
                  <a:srgbClr val="212A33"/>
                </a:solidFill>
              </a:defRPr>
            </a:lvl4pPr>
            <a:lvl5pPr>
              <a:buNone/>
              <a:defRPr sz="2700" b="0">
                <a:solidFill>
                  <a:srgbClr val="212A33"/>
                </a:solidFill>
              </a:defRPr>
            </a:lvl5pPr>
            <a:lvl6pPr>
              <a:buNone/>
              <a:defRPr sz="2700" b="0">
                <a:solidFill>
                  <a:srgbClr val="212A33"/>
                </a:solidFill>
              </a:defRPr>
            </a:lvl6pPr>
            <a:lvl7pPr>
              <a:buNone/>
              <a:defRPr sz="2700" b="0">
                <a:solidFill>
                  <a:srgbClr val="212A33"/>
                </a:solidFill>
              </a:defRPr>
            </a:lvl7pPr>
            <a:lvl8pPr>
              <a:buNone/>
              <a:defRPr sz="2700" b="0">
                <a:solidFill>
                  <a:srgbClr val="212A33"/>
                </a:solidFill>
              </a:defRPr>
            </a:lvl8pPr>
            <a:lvl9pPr>
              <a:buNone/>
              <a:defRPr sz="2700" b="0">
                <a:solidFill>
                  <a:srgbClr val="212A33"/>
                </a:solidFill>
              </a:defRPr>
            </a:lvl9pPr>
          </a:lstStyle>
          <a:p xmlns:a="http://schemas.openxmlformats.org/drawingml/2006/main">
            <a:pPr>
              <a:buNone/>
              <a:defRPr sz="2700" b="0">
                <a:solidFill>
                  <a:srgbClr val="212A33"/>
                </a:solidFill>
              </a:defRPr>
            </a:pPr>
            <a:r>
              <a:rPr sz="2700" b="0">
                <a:solidFill>
                  <a:srgbClr val="212A33"/>
                </a:solidFill>
              </a:rPr>
              <a:t>Honesty conditions: auction qv₃−c &gt; 2 and qv₂−c &gt; 3; funded lottery qt−c &gt; 3.</a:t>
            </a:r>
          </a:p>
        </p:txBody>
      </p:sp>
      <p:sp>
        <p:nvSpPr>
          <p:cNvPr id="66" name="baseline-heading">
            <a:extLst xmlns:a="http://schemas.openxmlformats.org/drawingml/2006/main">
              <a:ext uri="{FF2B5EF4-FFF2-40B4-BE49-F238E27FC236}">
                <a16:creationId xmlns:a16="http://schemas.microsoft.com/office/drawing/2014/main" id="{2993BC3C-D7B6-4B63-A129-1C84138B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5811500"/>
            <a:ext cx="781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003399"/>
                </a:solidFill>
              </a:defRPr>
            </a:defPPr>
            <a:lvl1pPr>
              <a:buNone/>
              <a:defRPr sz="2925" b="1">
                <a:solidFill>
                  <a:srgbClr val="003399"/>
                </a:solidFill>
              </a:defRPr>
            </a:lvl1pPr>
            <a:lvl2pPr>
              <a:buNone/>
              <a:defRPr sz="2925" b="1">
                <a:solidFill>
                  <a:srgbClr val="003399"/>
                </a:solidFill>
              </a:defRPr>
            </a:lvl2pPr>
            <a:lvl3pPr>
              <a:buNone/>
              <a:defRPr sz="2925" b="1">
                <a:solidFill>
                  <a:srgbClr val="003399"/>
                </a:solidFill>
              </a:defRPr>
            </a:lvl3pPr>
            <a:lvl4pPr>
              <a:buNone/>
              <a:defRPr sz="2925" b="1">
                <a:solidFill>
                  <a:srgbClr val="003399"/>
                </a:solidFill>
              </a:defRPr>
            </a:lvl4pPr>
            <a:lvl5pPr>
              <a:buNone/>
              <a:defRPr sz="2925" b="1">
                <a:solidFill>
                  <a:srgbClr val="003399"/>
                </a:solidFill>
              </a:defRPr>
            </a:lvl5pPr>
            <a:lvl6pPr>
              <a:buNone/>
              <a:defRPr sz="2925" b="1">
                <a:solidFill>
                  <a:srgbClr val="003399"/>
                </a:solidFill>
              </a:defRPr>
            </a:lvl6pPr>
            <a:lvl7pPr>
              <a:buNone/>
              <a:defRPr sz="2925" b="1">
                <a:solidFill>
                  <a:srgbClr val="003399"/>
                </a:solidFill>
              </a:defRPr>
            </a:lvl7pPr>
            <a:lvl8pPr>
              <a:buNone/>
              <a:defRPr sz="2925" b="1">
                <a:solidFill>
                  <a:srgbClr val="003399"/>
                </a:solidFill>
              </a:defRPr>
            </a:lvl8pPr>
            <a:lvl9pPr>
              <a:buNone/>
              <a:defRPr sz="2925" b="1">
                <a:solidFill>
                  <a:srgbClr val="003399"/>
                </a:solidFill>
              </a:defRPr>
            </a:lvl9pPr>
          </a:lstStyle>
          <a:p xmlns:a="http://schemas.openxmlformats.org/drawingml/2006/main">
            <a:pPr>
              <a:buNone/>
              <a:defRPr sz="2925" b="1">
                <a:solidFill>
                  <a:srgbClr val="003399"/>
                </a:solidFill>
              </a:defRPr>
            </a:pPr>
            <a:r>
              <a:rPr sz="2925" b="1">
                <a:solidFill>
                  <a:srgbClr val="003399"/>
                </a:solidFill>
              </a:rPr>
              <a:t>Baseline profit (A,B)</a:t>
            </a:r>
          </a:p>
        </p:txBody>
      </p:sp>
      <p:graphicFrame>
        <p:nvGraphicFramePr>
          <p:cNvPr id="67" name="baseline-payoffs">
            <a:extLst xmlns:a="http://schemas.openxmlformats.org/drawingml/2006/main">
              <a:ext uri="{FF2B5EF4-FFF2-40B4-BE49-F238E27FC236}">
                <a16:creationId xmlns:a16="http://schemas.microsoft.com/office/drawing/2014/main" id="{D6D351EF-5E1D-48DA-B9FA-770E96D0510A}"/>
              </a:ext>
            </a:extLst>
          </p:cNvPr>
          <p:cNvGraphicFramePr/>
          <p:nvPr/>
        </p:nvGraphicFramePr>
        <p:xfrm>
          <a:off xmlns:a="http://schemas.openxmlformats.org/drawingml/2006/main" x="13335000" y="16478250"/>
          <a:ext xmlns:a="http://schemas.openxmlformats.org/drawingml/2006/main" cx="7810500" cy="1857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857500"/>
                <a:gridCol w="2857500"/>
              </a:tblGrid>
              <a:tr h="619125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</a:rPr>
                        <a:t>A / B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5D9"/>
                      </a:solidFill>
                      <a:prstDash val="solid"/>
                    </a:lnL>
                    <a:lnR w="9525">
                      <a:solidFill>
                        <a:srgbClr val="CFD5D9"/>
                      </a:solidFill>
                      <a:prstDash val="solid"/>
                    </a:lnR>
                    <a:lnT w="9525">
                      <a:solidFill>
                        <a:srgbClr val="CFD5D9"/>
                      </a:solidFill>
                      <a:prstDash val="solid"/>
                    </a:lnT>
                    <a:lnB w="9525">
                      <a:solidFill>
                        <a:srgbClr val="CFD5D9"/>
                      </a:solidFill>
                      <a:prstDash val="solid"/>
                    </a:lnB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</a:rPr>
                        <a:t>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5D9"/>
                      </a:solidFill>
                      <a:prstDash val="solid"/>
                    </a:lnR>
                    <a:lnT w="9525">
                      <a:solidFill>
                        <a:srgbClr val="CFD5D9"/>
                      </a:solidFill>
                      <a:prstDash val="solid"/>
                    </a:lnT>
                    <a:lnB w="9525">
                      <a:solidFill>
                        <a:srgbClr val="CFD5D9"/>
                      </a:solidFill>
                      <a:prstDash val="solid"/>
                    </a:lnB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5D9"/>
                      </a:solidFill>
                      <a:prstDash val="solid"/>
                    </a:lnR>
                    <a:lnT w="9525">
                      <a:solidFill>
                        <a:srgbClr val="CFD5D9"/>
                      </a:solidFill>
                      <a:prstDash val="solid"/>
                    </a:lnT>
                    <a:lnB w="9525">
                      <a:solidFill>
                        <a:srgbClr val="CFD5D9"/>
                      </a:solidFill>
                      <a:prstDash val="solid"/>
                    </a:lnB>
                    <a:solidFill>
                      <a:srgbClr val="003399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12A33"/>
                          </a:solidFill>
                        </a:rPr>
                        <a:t>H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5D9"/>
                      </a:solidFill>
                      <a:prstDash val="solid"/>
                    </a:lnL>
                    <a:lnR w="9525">
                      <a:solidFill>
                        <a:srgbClr val="CFD5D9"/>
                      </a:solidFill>
                      <a:prstDash val="solid"/>
                    </a:lnR>
                    <a:lnB w="9525">
                      <a:solidFill>
                        <a:srgbClr val="CFD5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12A33"/>
                          </a:solidFill>
                        </a:rPr>
                        <a:t>(3,3)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5D9"/>
                      </a:solidFill>
                      <a:prstDash val="solid"/>
                    </a:lnR>
                    <a:lnB w="9525">
                      <a:solidFill>
                        <a:srgbClr val="CFD5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12A33"/>
                          </a:solidFill>
                        </a:rPr>
                        <a:t>(1,5)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5D9"/>
                      </a:solidFill>
                      <a:prstDash val="solid"/>
                    </a:lnR>
                    <a:lnB w="9525">
                      <a:solidFill>
                        <a:srgbClr val="CFD5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12A33"/>
                          </a:solidFill>
                        </a:rPr>
                        <a:t>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5D9"/>
                      </a:solidFill>
                      <a:prstDash val="solid"/>
                    </a:lnL>
                    <a:lnR w="9525">
                      <a:solidFill>
                        <a:srgbClr val="CFD5D9"/>
                      </a:solidFill>
                      <a:prstDash val="solid"/>
                    </a:lnR>
                    <a:lnB w="9525">
                      <a:solidFill>
                        <a:srgbClr val="CFD5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12A33"/>
                          </a:solidFill>
                        </a:rPr>
                        <a:t>(5,1)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5D9"/>
                      </a:solidFill>
                      <a:prstDash val="solid"/>
                    </a:lnR>
                    <a:lnB w="9525">
                      <a:solidFill>
                        <a:srgbClr val="CFD5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12A33"/>
                          </a:solidFill>
                        </a:rPr>
                        <a:t>(4,4)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5D9"/>
                      </a:solidFill>
                      <a:prstDash val="solid"/>
                    </a:lnR>
                    <a:lnB w="9525">
                      <a:solidFill>
                        <a:srgbClr val="CFD5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8" name="cost-boundary">
            <a:extLst xmlns:a="http://schemas.openxmlformats.org/drawingml/2006/main">
              <a:ext uri="{FF2B5EF4-FFF2-40B4-BE49-F238E27FC236}">
                <a16:creationId xmlns:a16="http://schemas.microsoft.com/office/drawing/2014/main" id="{EDC63AD1-4B3C-46DD-A4BD-D793093E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0" y="16430625"/>
            <a:ext cx="7715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0">
                <a:solidFill>
                  <a:srgbClr val="212A33"/>
                </a:solidFill>
              </a:defRPr>
            </a:defPPr>
            <a:lvl1pPr>
              <a:buNone/>
              <a:defRPr sz="2775" b="0">
                <a:solidFill>
                  <a:srgbClr val="212A33"/>
                </a:solidFill>
              </a:defRPr>
            </a:lvl1pPr>
            <a:lvl2pPr>
              <a:buNone/>
              <a:defRPr sz="2775" b="0">
                <a:solidFill>
                  <a:srgbClr val="212A33"/>
                </a:solidFill>
              </a:defRPr>
            </a:lvl2pPr>
            <a:lvl3pPr>
              <a:buNone/>
              <a:defRPr sz="2775" b="0">
                <a:solidFill>
                  <a:srgbClr val="212A33"/>
                </a:solidFill>
              </a:defRPr>
            </a:lvl3pPr>
            <a:lvl4pPr>
              <a:buNone/>
              <a:defRPr sz="2775" b="0">
                <a:solidFill>
                  <a:srgbClr val="212A33"/>
                </a:solidFill>
              </a:defRPr>
            </a:lvl4pPr>
            <a:lvl5pPr>
              <a:buNone/>
              <a:defRPr sz="2775" b="0">
                <a:solidFill>
                  <a:srgbClr val="212A33"/>
                </a:solidFill>
              </a:defRPr>
            </a:lvl5pPr>
            <a:lvl6pPr>
              <a:buNone/>
              <a:defRPr sz="2775" b="0">
                <a:solidFill>
                  <a:srgbClr val="212A33"/>
                </a:solidFill>
              </a:defRPr>
            </a:lvl6pPr>
            <a:lvl7pPr>
              <a:buNone/>
              <a:defRPr sz="2775" b="0">
                <a:solidFill>
                  <a:srgbClr val="212A33"/>
                </a:solidFill>
              </a:defRPr>
            </a:lvl7pPr>
            <a:lvl8pPr>
              <a:buNone/>
              <a:defRPr sz="2775" b="0">
                <a:solidFill>
                  <a:srgbClr val="212A33"/>
                </a:solidFill>
              </a:defRPr>
            </a:lvl8pPr>
            <a:lvl9pPr>
              <a:buNone/>
              <a:defRPr sz="2775" b="0">
                <a:solidFill>
                  <a:srgbClr val="212A33"/>
                </a:solidFill>
              </a:defRPr>
            </a:lvl9pPr>
          </a:lstStyle>
          <a:p xmlns:a="http://schemas.openxmlformats.org/drawingml/2006/main">
            <a:pPr>
              <a:buNone/>
              <a:defRPr sz="2775" b="0">
                <a:solidFill>
                  <a:srgbClr val="212A33"/>
                </a:solidFill>
              </a:defRPr>
            </a:pPr>
            <a:r>
              <a:rPr sz="2775" b="0">
                <a:solidFill>
                  <a:srgbClr val="212A33"/>
                </a:solidFill>
              </a:rPr>
              <a:t>Strong demand: (5,4,3).</a:t>
            </a:r>
          </a:p>
          <a:p xmlns:a="http://schemas.openxmlformats.org/drawingml/2006/main">
            <a:pPr>
              <a:buNone/>
              <a:defRPr sz="2775" b="0">
                <a:solidFill>
                  <a:srgbClr val="212A33"/>
                </a:solidFill>
              </a:defRPr>
            </a:pPr>
            <a:r>
              <a:rPr sz="2775" b="0">
                <a:solidFill>
                  <a:srgbClr val="212A33"/>
                </a:solidFill>
              </a:rPr>
              <a:t>At q=1, H−S=1−c.</a:t>
            </a:r>
          </a:p>
          <a:p xmlns:a="http://schemas.openxmlformats.org/drawingml/2006/main">
            <a:pPr>
              <a:buNone/>
              <a:defRPr sz="2775" b="0">
                <a:solidFill>
                  <a:srgbClr val="212A33"/>
                </a:solidFill>
              </a:defRPr>
            </a:pPr>
            <a:r>
              <a:rPr sz="2775" b="0">
                <a:solidFill>
                  <a:srgbClr val="212A33"/>
                </a:solidFill>
              </a:rPr>
              <a:t>c=1: every independent mixed pair is an equilibrium.</a:t>
            </a:r>
          </a:p>
          <a:p xmlns:a="http://schemas.openxmlformats.org/drawingml/2006/main">
            <a:pPr>
              <a:buNone/>
              <a:defRPr sz="2775" b="0">
                <a:solidFill>
                  <a:srgbClr val="212A33"/>
                </a:solidFill>
              </a:defRPr>
            </a:pPr>
            <a:r>
              <a:rPr sz="2775" b="0">
                <a:solidFill>
                  <a:srgbClr val="212A33"/>
                </a:solidFill>
              </a:rPr>
              <a:t>Weak (3,2,1): SS for c≥0.</a:t>
            </a:r>
          </a:p>
        </p:txBody>
      </p:sp>
      <p:graphicFrame>
        <p:nvGraphicFramePr>
          <p:cNvPr id="69" name="verified-results">
            <a:extLst xmlns:a="http://schemas.openxmlformats.org/drawingml/2006/main">
              <a:ext uri="{FF2B5EF4-FFF2-40B4-BE49-F238E27FC236}">
                <a16:creationId xmlns:a16="http://schemas.microsoft.com/office/drawing/2014/main" id="{DE9952F4-F817-4B9E-B1BC-FD77EF5CA2CB}"/>
              </a:ext>
            </a:extLst>
          </p:cNvPr>
          <p:cNvGraphicFramePr/>
          <p:nvPr/>
        </p:nvGraphicFramePr>
        <p:xfrm>
          <a:off xmlns:a="http://schemas.openxmlformats.org/drawingml/2006/main" x="13335000" y="18859500"/>
          <a:ext xmlns:a="http://schemas.openxmlformats.org/drawingml/2006/main" cx="160972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952500"/>
                <a:gridCol w="857250"/>
                <a:gridCol w="6000750"/>
                <a:gridCol w="4381500"/>
              </a:tblGrid>
              <a:tr h="66675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</a:rPr>
                        <a:t>Case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5D9"/>
                      </a:solidFill>
                      <a:prstDash val="solid"/>
                    </a:lnL>
                    <a:lnR w="9525">
                      <a:solidFill>
                        <a:srgbClr val="CFD5D9"/>
                      </a:solidFill>
                      <a:prstDash val="solid"/>
                    </a:lnR>
                    <a:lnT w="9525">
                      <a:solidFill>
                        <a:srgbClr val="CFD5D9"/>
                      </a:solidFill>
                      <a:prstDash val="solid"/>
                    </a:lnT>
                    <a:lnB w="9525">
                      <a:solidFill>
                        <a:srgbClr val="CFD5D9"/>
                      </a:solidFill>
                      <a:prstDash val="solid"/>
                    </a:lnB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</a:rPr>
                        <a:t>q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5D9"/>
                      </a:solidFill>
                      <a:prstDash val="solid"/>
                    </a:lnR>
                    <a:lnT w="9525">
                      <a:solidFill>
                        <a:srgbClr val="CFD5D9"/>
                      </a:solidFill>
                      <a:prstDash val="solid"/>
                    </a:lnT>
                    <a:lnB w="9525">
                      <a:solidFill>
                        <a:srgbClr val="CFD5D9"/>
                      </a:solidFill>
                      <a:prstDash val="solid"/>
                    </a:lnB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5D9"/>
                      </a:solidFill>
                      <a:prstDash val="solid"/>
                    </a:lnR>
                    <a:lnT w="9525">
                      <a:solidFill>
                        <a:srgbClr val="CFD5D9"/>
                      </a:solidFill>
                      <a:prstDash val="solid"/>
                    </a:lnT>
                    <a:lnB w="9525">
                      <a:solidFill>
                        <a:srgbClr val="CFD5D9"/>
                      </a:solidFill>
                      <a:prstDash val="solid"/>
                    </a:lnB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</a:rPr>
                        <a:t>Equilibria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5D9"/>
                      </a:solidFill>
                      <a:prstDash val="solid"/>
                    </a:lnR>
                    <a:lnT w="9525">
                      <a:solidFill>
                        <a:srgbClr val="CFD5D9"/>
                      </a:solidFill>
                      <a:prstDash val="solid"/>
                    </a:lnT>
                    <a:lnB w="9525">
                      <a:solidFill>
                        <a:srgbClr val="CFD5D9"/>
                      </a:solidFill>
                      <a:prstDash val="solid"/>
                    </a:lnB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</a:rPr>
                        <a:t>Output / limit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5D9"/>
                      </a:solidFill>
                      <a:prstDash val="solid"/>
                    </a:lnR>
                    <a:lnT w="9525">
                      <a:solidFill>
                        <a:srgbClr val="CFD5D9"/>
                      </a:solidFill>
                      <a:prstDash val="solid"/>
                    </a:lnT>
                    <a:lnB w="9525">
                      <a:solidFill>
                        <a:srgbClr val="CFD5D9"/>
                      </a:solidFill>
                      <a:prstDash val="solid"/>
                    </a:lnB>
                    <a:solidFill>
                      <a:srgbClr val="00339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12A33"/>
                          </a:solidFill>
                        </a:rPr>
                        <a:t>No service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5D9"/>
                      </a:solidFill>
                      <a:prstDash val="solid"/>
                    </a:lnL>
                    <a:lnR w="9525">
                      <a:solidFill>
                        <a:srgbClr val="CFD5D9"/>
                      </a:solidFill>
                      <a:prstDash val="solid"/>
                    </a:lnR>
                    <a:lnB w="9525">
                      <a:solidFill>
                        <a:srgbClr val="CFD5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12A33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5D9"/>
                      </a:solidFill>
                      <a:prstDash val="solid"/>
                    </a:lnR>
                    <a:lnB w="9525">
                      <a:solidFill>
                        <a:srgbClr val="CFD5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12A33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5D9"/>
                      </a:solidFill>
                      <a:prstDash val="solid"/>
                    </a:lnR>
                    <a:lnB w="9525">
                      <a:solidFill>
                        <a:srgbClr val="CFD5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12A33"/>
                          </a:solidFill>
                        </a:rPr>
                        <a:t>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5D9"/>
                      </a:solidFill>
                      <a:prstDash val="solid"/>
                    </a:lnR>
                    <a:lnB w="9525">
                      <a:solidFill>
                        <a:srgbClr val="CFD5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12A33"/>
                          </a:solidFill>
                        </a:rPr>
                        <a:t>No correction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5D9"/>
                      </a:solidFill>
                      <a:prstDash val="solid"/>
                    </a:lnR>
                    <a:lnB w="9525">
                      <a:solidFill>
                        <a:srgbClr val="CFD5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12A33"/>
                          </a:solidFill>
                        </a:rPr>
                        <a:t>Strong auction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5D9"/>
                      </a:solidFill>
                      <a:prstDash val="solid"/>
                    </a:lnL>
                    <a:lnR w="9525">
                      <a:solidFill>
                        <a:srgbClr val="CFD5D9"/>
                      </a:solidFill>
                      <a:prstDash val="solid"/>
                    </a:lnR>
                    <a:lnB w="9525">
                      <a:solidFill>
                        <a:srgbClr val="CFD5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12A33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5D9"/>
                      </a:solidFill>
                      <a:prstDash val="solid"/>
                    </a:lnR>
                    <a:lnB w="9525">
                      <a:solidFill>
                        <a:srgbClr val="CFD5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12A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5D9"/>
                      </a:solidFill>
                      <a:prstDash val="solid"/>
                    </a:lnR>
                    <a:lnB w="9525">
                      <a:solidFill>
                        <a:srgbClr val="CFD5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12A33"/>
                          </a:solidFill>
                        </a:rPr>
                        <a:t>HH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5D9"/>
                      </a:solidFill>
                      <a:prstDash val="solid"/>
                    </a:lnR>
                    <a:lnB w="9525">
                      <a:solidFill>
                        <a:srgbClr val="CFD5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12A33"/>
                          </a:solidFill>
                        </a:rPr>
                        <a:t>Revenue 6; W=9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5D9"/>
                      </a:solidFill>
                      <a:prstDash val="solid"/>
                    </a:lnR>
                    <a:lnB w="9525">
                      <a:solidFill>
                        <a:srgbClr val="CFD5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12A33"/>
                          </a:solidFill>
                        </a:rPr>
                        <a:t>Strong auction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5D9"/>
                      </a:solidFill>
                      <a:prstDash val="solid"/>
                    </a:lnL>
                    <a:lnR w="9525">
                      <a:solidFill>
                        <a:srgbClr val="CFD5D9"/>
                      </a:solidFill>
                      <a:prstDash val="solid"/>
                    </a:lnR>
                    <a:lnB w="9525">
                      <a:solidFill>
                        <a:srgbClr val="CFD5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12A33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5D9"/>
                      </a:solidFill>
                      <a:prstDash val="solid"/>
                    </a:lnR>
                    <a:lnB w="9525">
                      <a:solidFill>
                        <a:srgbClr val="CFD5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12A33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5D9"/>
                      </a:solidFill>
                      <a:prstDash val="solid"/>
                    </a:lnR>
                    <a:lnB w="9525">
                      <a:solidFill>
                        <a:srgbClr val="CFD5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12A33"/>
                          </a:solidFill>
                        </a:rPr>
                        <a:t>All pure/mixed pairs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5D9"/>
                      </a:solidFill>
                      <a:prstDash val="solid"/>
                    </a:lnR>
                    <a:lnB w="9525">
                      <a:solidFill>
                        <a:srgbClr val="CFD5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12A33"/>
                          </a:solidFill>
                        </a:rPr>
                        <a:t>Supply not unique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5D9"/>
                      </a:solidFill>
                      <a:prstDash val="solid"/>
                    </a:lnR>
                    <a:lnB w="9525">
                      <a:solidFill>
                        <a:srgbClr val="CFD5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12A33"/>
                          </a:solidFill>
                        </a:rPr>
                        <a:t>Acceptance test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5D9"/>
                      </a:solidFill>
                      <a:prstDash val="solid"/>
                    </a:lnL>
                    <a:lnR w="9525">
                      <a:solidFill>
                        <a:srgbClr val="CFD5D9"/>
                      </a:solidFill>
                      <a:prstDash val="solid"/>
                    </a:lnR>
                    <a:lnB w="9525">
                      <a:solidFill>
                        <a:srgbClr val="CFD5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12A33"/>
                          </a:solidFill>
                        </a:rPr>
                        <a:t>.7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5D9"/>
                      </a:solidFill>
                      <a:prstDash val="solid"/>
                    </a:lnR>
                    <a:lnB w="9525">
                      <a:solidFill>
                        <a:srgbClr val="CFD5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12A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5D9"/>
                      </a:solidFill>
                      <a:prstDash val="solid"/>
                    </a:lnR>
                    <a:lnB w="9525">
                      <a:solidFill>
                        <a:srgbClr val="CFD5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12A33"/>
                          </a:solidFill>
                        </a:rPr>
                        <a:t>HH, SS; mixed H=2/3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5D9"/>
                      </a:solidFill>
                      <a:prstDash val="solid"/>
                    </a:lnR>
                    <a:lnB w="9525">
                      <a:solidFill>
                        <a:srgbClr val="CFD5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12A33"/>
                          </a:solidFill>
                        </a:rPr>
                        <a:t>No service can return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5D9"/>
                      </a:solidFill>
                      <a:prstDash val="solid"/>
                    </a:lnR>
                    <a:lnB w="9525">
                      <a:solidFill>
                        <a:srgbClr val="CFD5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12A33"/>
                          </a:solidFill>
                        </a:rPr>
                        <a:t>Funded lottery t=4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5D9"/>
                      </a:solidFill>
                      <a:prstDash val="solid"/>
                    </a:lnL>
                    <a:lnR w="9525">
                      <a:solidFill>
                        <a:srgbClr val="CFD5D9"/>
                      </a:solidFill>
                      <a:prstDash val="solid"/>
                    </a:lnR>
                    <a:lnB w="9525">
                      <a:solidFill>
                        <a:srgbClr val="CFD5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12A33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5D9"/>
                      </a:solidFill>
                      <a:prstDash val="solid"/>
                    </a:lnR>
                    <a:lnB w="9525">
                      <a:solidFill>
                        <a:srgbClr val="CFD5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12A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5D9"/>
                      </a:solidFill>
                      <a:prstDash val="solid"/>
                    </a:lnR>
                    <a:lnB w="9525">
                      <a:solidFill>
                        <a:srgbClr val="CFD5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12A33"/>
                          </a:solidFill>
                        </a:rPr>
                        <a:t>HH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5D9"/>
                      </a:solidFill>
                      <a:prstDash val="solid"/>
                    </a:lnR>
                    <a:lnB w="9525">
                      <a:solidFill>
                        <a:srgbClr val="CFD5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12A33"/>
                          </a:solidFill>
                        </a:rPr>
                        <a:t>Value 8; each access 2/3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5D9"/>
                      </a:solidFill>
                      <a:prstDash val="solid"/>
                    </a:lnR>
                    <a:lnB w="9525">
                      <a:solidFill>
                        <a:srgbClr val="CFD5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0" name="verification-summary">
            <a:extLst xmlns:a="http://schemas.openxmlformats.org/drawingml/2006/main">
              <a:ext uri="{FF2B5EF4-FFF2-40B4-BE49-F238E27FC236}">
                <a16:creationId xmlns:a16="http://schemas.microsoft.com/office/drawing/2014/main" id="{04375D19-B629-47C7-96E6-F8EB94F2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2955250"/>
            <a:ext cx="1609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56616B"/>
                </a:solidFill>
              </a:defRPr>
            </a:defPPr>
            <a:lvl1pPr>
              <a:buNone/>
              <a:defRPr sz="2400" b="0">
                <a:solidFill>
                  <a:srgbClr val="56616B"/>
                </a:solidFill>
              </a:defRPr>
            </a:lvl1pPr>
            <a:lvl2pPr>
              <a:buNone/>
              <a:defRPr sz="2400" b="0">
                <a:solidFill>
                  <a:srgbClr val="56616B"/>
                </a:solidFill>
              </a:defRPr>
            </a:lvl2pPr>
            <a:lvl3pPr>
              <a:buNone/>
              <a:defRPr sz="2400" b="0">
                <a:solidFill>
                  <a:srgbClr val="56616B"/>
                </a:solidFill>
              </a:defRPr>
            </a:lvl3pPr>
            <a:lvl4pPr>
              <a:buNone/>
              <a:defRPr sz="2400" b="0">
                <a:solidFill>
                  <a:srgbClr val="56616B"/>
                </a:solidFill>
              </a:defRPr>
            </a:lvl4pPr>
            <a:lvl5pPr>
              <a:buNone/>
              <a:defRPr sz="2400" b="0">
                <a:solidFill>
                  <a:srgbClr val="56616B"/>
                </a:solidFill>
              </a:defRPr>
            </a:lvl5pPr>
            <a:lvl6pPr>
              <a:buNone/>
              <a:defRPr sz="2400" b="0">
                <a:solidFill>
                  <a:srgbClr val="56616B"/>
                </a:solidFill>
              </a:defRPr>
            </a:lvl6pPr>
            <a:lvl7pPr>
              <a:buNone/>
              <a:defRPr sz="2400" b="0">
                <a:solidFill>
                  <a:srgbClr val="56616B"/>
                </a:solidFill>
              </a:defRPr>
            </a:lvl7pPr>
            <a:lvl8pPr>
              <a:buNone/>
              <a:defRPr sz="2400" b="0">
                <a:solidFill>
                  <a:srgbClr val="56616B"/>
                </a:solidFill>
              </a:defRPr>
            </a:lvl8pPr>
            <a:lvl9pPr>
              <a:buNone/>
              <a:defRPr sz="2400" b="0">
                <a:solidFill>
                  <a:srgbClr val="56616B"/>
                </a:solidFill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56616B"/>
                </a:solidFill>
              </a:defRPr>
            </a:pPr>
            <a:r>
              <a:rPr sz="2400" b="0">
                <a:solidFill>
                  <a:srgbClr val="56616B"/>
                </a:solidFill>
              </a:rPr>
              <a:t>Computational checks: 14,406 bid checks; 8 independent Nashpy matrices; 121 mixed pairs; 24 q/c cases. These tests verify the model and settlement rules.</a:t>
            </a:r>
          </a:p>
        </p:txBody>
      </p:sp>
      <p:pic>
        <p:nvPic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5D80837-DD08-498D-92E1-910F107169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eb30cc18254e70"/>
          <a:stretch xmlns:a="http://schemas.openxmlformats.org/drawingml/2006/main"/>
        </p:blipFill>
        <p:spPr>
          <a:xfrm xmlns:a="http://schemas.openxmlformats.org/drawingml/2006/main">
            <a:off x="40005000" y="11715750"/>
            <a:ext cx="1381125" cy="1381125"/>
          </a:xfrm>
          <a:prstGeom xmlns:a="http://schemas.openxmlformats.org/drawingml/2006/main" prst="rect">
            <a:avLst/>
          </a:prstGeom>
        </p:spPr>
      </p:pic>
      <p:sp>
        <p:nvSpPr>
          <p:cNvPr id="72" name="impact-fund">
            <a:extLst xmlns:a="http://schemas.openxmlformats.org/drawingml/2006/main">
              <a:ext uri="{FF2B5EF4-FFF2-40B4-BE49-F238E27FC236}">
                <a16:creationId xmlns:a16="http://schemas.microsoft.com/office/drawing/2014/main" id="{24ABF824-06FA-45F8-817A-0A5A6E8F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17" y="11906250"/>
            <a:ext cx="914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3399"/>
            </a:solidFill>
          </a:ln>
        </p:spPr>
        <p:txBody>
          <a:bodyPr xmlns:a="http://schemas.openxmlformats.org/drawingml/2006/main" lIns="114300" tIns="114300" rIns="114300" bIns="114300"/>
          <a:lstStyle xmlns:a="http://schemas.openxmlformats.org/drawingml/2006/main">
            <a:defPPr>
              <a:defRPr sz="2400" b="0">
                <a:solidFill>
                  <a:srgbClr val="212A33"/>
                </a:solidFill>
              </a:defRPr>
            </a:defPPr>
            <a:lvl1pPr>
              <a:buNone/>
              <a:defRPr sz="2400" b="0">
                <a:solidFill>
                  <a:srgbClr val="212A33"/>
                </a:solidFill>
              </a:defRPr>
            </a:lvl1pPr>
            <a:lvl2pPr>
              <a:buNone/>
              <a:defRPr sz="2400" b="0">
                <a:solidFill>
                  <a:srgbClr val="212A33"/>
                </a:solidFill>
              </a:defRPr>
            </a:lvl2pPr>
            <a:lvl3pPr>
              <a:buNone/>
              <a:defRPr sz="2400" b="0">
                <a:solidFill>
                  <a:srgbClr val="212A33"/>
                </a:solidFill>
              </a:defRPr>
            </a:lvl3pPr>
            <a:lvl4pPr>
              <a:buNone/>
              <a:defRPr sz="2400" b="0">
                <a:solidFill>
                  <a:srgbClr val="212A33"/>
                </a:solidFill>
              </a:defRPr>
            </a:lvl4pPr>
            <a:lvl5pPr>
              <a:buNone/>
              <a:defRPr sz="2400" b="0">
                <a:solidFill>
                  <a:srgbClr val="212A33"/>
                </a:solidFill>
              </a:defRPr>
            </a:lvl5pPr>
            <a:lvl6pPr>
              <a:buNone/>
              <a:defRPr sz="2400" b="0">
                <a:solidFill>
                  <a:srgbClr val="212A33"/>
                </a:solidFill>
              </a:defRPr>
            </a:lvl6pPr>
            <a:lvl7pPr>
              <a:buNone/>
              <a:defRPr sz="2400" b="0">
                <a:solidFill>
                  <a:srgbClr val="212A33"/>
                </a:solidFill>
              </a:defRPr>
            </a:lvl7pPr>
            <a:lvl8pPr>
              <a:buNone/>
              <a:defRPr sz="2400" b="0">
                <a:solidFill>
                  <a:srgbClr val="212A33"/>
                </a:solidFill>
              </a:defRPr>
            </a:lvl8pPr>
            <a:lvl9pPr>
              <a:buNone/>
              <a:defRPr sz="2400" b="0">
                <a:solidFill>
                  <a:srgbClr val="212A33"/>
                </a:solidFill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212A33"/>
                </a:solidFill>
              </a:defRPr>
            </a:pPr>
            <a:r>
              <a:rPr sz="2400" b="0">
                <a:solidFill>
                  <a:srgbClr val="212A33"/>
                </a:solidFill>
              </a:rPr>
              <a:t>Proposed education-access grant; learners pay 0. k=2,q=1,t=4,c=0: reserve 9.5 = transfers 8 + audits .5 + appeal reserve 1. Delivery resource cost kc=0 is separate.</a:t>
            </a:r>
          </a:p>
        </p:txBody>
      </p:sp>
      <p:sp>
        <p:nvSpPr>
          <p:cNvPr id="73" name="impact-arrow-1">
            <a:extLst xmlns:a="http://schemas.openxmlformats.org/drawingml/2006/main">
              <a:ext uri="{FF2B5EF4-FFF2-40B4-BE49-F238E27FC236}">
                <a16:creationId xmlns:a16="http://schemas.microsoft.com/office/drawing/2014/main" id="{D0549CE6-3C07-452F-993E-18AA1ED9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0" y="13525500"/>
            <a:ext cx="361950" cy="400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3399"/>
          </a:solidFill>
          <a:ln xmlns:a="http://schemas.openxmlformats.org/drawingml/2006/main" w="0">
            <a:solidFill>
              <a:srgbClr val="003399"/>
            </a:solidFill>
          </a:ln>
        </p:spPr>
      </p:sp>
      <p:sp>
        <p:nvSpPr>
          <p:cNvPr id="74" name="impact-check">
            <a:extLst xmlns:a="http://schemas.openxmlformats.org/drawingml/2006/main">
              <a:ext uri="{FF2B5EF4-FFF2-40B4-BE49-F238E27FC236}">
                <a16:creationId xmlns:a16="http://schemas.microsoft.com/office/drawing/2014/main" id="{EDDCB346-32D4-4AAD-B899-EA7877C2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17" y="14001750"/>
            <a:ext cx="11049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3399"/>
            </a:solidFill>
          </a:ln>
        </p:spPr>
        <p:txBody>
          <a:bodyPr xmlns:a="http://schemas.openxmlformats.org/drawingml/2006/main" lIns="114300" tIns="114300" rIns="114300" bIns="114300"/>
          <a:lstStyle xmlns:a="http://schemas.openxmlformats.org/drawingml/2006/main">
            <a:defPPr>
              <a:defRPr sz="2475" b="0">
                <a:solidFill>
                  <a:srgbClr val="212A33"/>
                </a:solidFill>
              </a:defRPr>
            </a:defPPr>
            <a:lvl1pPr>
              <a:buNone/>
              <a:defRPr sz="2475" b="0">
                <a:solidFill>
                  <a:srgbClr val="212A33"/>
                </a:solidFill>
              </a:defRPr>
            </a:lvl1pPr>
            <a:lvl2pPr>
              <a:buNone/>
              <a:defRPr sz="2475" b="0">
                <a:solidFill>
                  <a:srgbClr val="212A33"/>
                </a:solidFill>
              </a:defRPr>
            </a:lvl2pPr>
            <a:lvl3pPr>
              <a:buNone/>
              <a:defRPr sz="2475" b="0">
                <a:solidFill>
                  <a:srgbClr val="212A33"/>
                </a:solidFill>
              </a:defRPr>
            </a:lvl3pPr>
            <a:lvl4pPr>
              <a:buNone/>
              <a:defRPr sz="2475" b="0">
                <a:solidFill>
                  <a:srgbClr val="212A33"/>
                </a:solidFill>
              </a:defRPr>
            </a:lvl4pPr>
            <a:lvl5pPr>
              <a:buNone/>
              <a:defRPr sz="2475" b="0">
                <a:solidFill>
                  <a:srgbClr val="212A33"/>
                </a:solidFill>
              </a:defRPr>
            </a:lvl5pPr>
            <a:lvl6pPr>
              <a:buNone/>
              <a:defRPr sz="2475" b="0">
                <a:solidFill>
                  <a:srgbClr val="212A33"/>
                </a:solidFill>
              </a:defRPr>
            </a:lvl6pPr>
            <a:lvl7pPr>
              <a:buNone/>
              <a:defRPr sz="2475" b="0">
                <a:solidFill>
                  <a:srgbClr val="212A33"/>
                </a:solidFill>
              </a:defRPr>
            </a:lvl7pPr>
            <a:lvl8pPr>
              <a:buNone/>
              <a:defRPr sz="2475" b="0">
                <a:solidFill>
                  <a:srgbClr val="212A33"/>
                </a:solidFill>
              </a:defRPr>
            </a:lvl8pPr>
            <a:lvl9pPr>
              <a:buNone/>
              <a:defRPr sz="2475" b="0">
                <a:solidFill>
                  <a:srgbClr val="212A33"/>
                </a:solidFill>
              </a:defRPr>
            </a:lvl9pPr>
          </a:lstStyle>
          <a:p xmlns:a="http://schemas.openxmlformats.org/drawingml/2006/main">
            <a:pPr>
              <a:buNone/>
              <a:defRPr sz="2475" b="0">
                <a:solidFill>
                  <a:srgbClr val="212A33"/>
                </a:solidFill>
              </a:defRPr>
            </a:pPr>
            <a:r>
              <a:rPr sz="2475" b="0">
                <a:solidFill>
                  <a:srgbClr val="212A33"/>
                </a:solidFill>
              </a:rPr>
              <a:t>Key confirms 102 → pay 3, provider net 2.</a:t>
            </a:r>
          </a:p>
          <a:p xmlns:a="http://schemas.openxmlformats.org/drawingml/2006/main">
            <a:pPr>
              <a:buNone/>
              <a:defRPr sz="2475" b="0">
                <a:solidFill>
                  <a:srgbClr val="212A33"/>
                </a:solidFill>
              </a:defRPr>
            </a:pPr>
            <a:r>
              <a:rPr sz="2475" b="0">
                <a:solidFill>
                  <a:srgbClr val="212A33"/>
                </a:solidFill>
              </a:rPr>
              <a:t>Disputed 103 → hold 3 → independent rejection → refund 3, net −1 (c=1). Audit .25 / appeal .50 separately funded.</a:t>
            </a:r>
          </a:p>
        </p:txBody>
      </p:sp>
      <p:sp>
        <p:nvSpPr>
          <p:cNvPr id="75" name="impact-arrow-2">
            <a:extLst xmlns:a="http://schemas.openxmlformats.org/drawingml/2006/main">
              <a:ext uri="{FF2B5EF4-FFF2-40B4-BE49-F238E27FC236}">
                <a16:creationId xmlns:a16="http://schemas.microsoft.com/office/drawing/2014/main" id="{465412DD-30B5-4851-AC69-2C5CBE21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0" y="15478125"/>
            <a:ext cx="361950" cy="400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3399"/>
          </a:solidFill>
          <a:ln xmlns:a="http://schemas.openxmlformats.org/drawingml/2006/main" w="0">
            <a:solidFill>
              <a:srgbClr val="003399"/>
            </a:solidFill>
          </a:ln>
        </p:spPr>
      </p:sp>
      <p:sp>
        <p:nvSpPr>
          <p:cNvPr id="76" name="impact-targets">
            <a:extLst xmlns:a="http://schemas.openxmlformats.org/drawingml/2006/main">
              <a:ext uri="{FF2B5EF4-FFF2-40B4-BE49-F238E27FC236}">
                <a16:creationId xmlns:a16="http://schemas.microsoft.com/office/drawing/2014/main" id="{7BE28A1F-920E-42EF-83D8-639B78C2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17" y="15906750"/>
            <a:ext cx="11049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633"/>
            </a:solidFill>
          </a:ln>
        </p:spPr>
        <p:txBody>
          <a:bodyPr xmlns:a="http://schemas.openxmlformats.org/drawingml/2006/main" lIns="114300" tIns="114300" rIns="114300" bIns="114300"/>
          <a:lstStyle xmlns:a="http://schemas.openxmlformats.org/drawingml/2006/main">
            <a:defPPr>
              <a:defRPr sz="2550" b="0">
                <a:solidFill>
                  <a:srgbClr val="212A33"/>
                </a:solidFill>
              </a:defRPr>
            </a:defPPr>
            <a:lvl1pPr>
              <a:buNone/>
              <a:defRPr sz="2550" b="0">
                <a:solidFill>
                  <a:srgbClr val="212A33"/>
                </a:solidFill>
              </a:defRPr>
            </a:lvl1pPr>
            <a:lvl2pPr>
              <a:buNone/>
              <a:defRPr sz="2550" b="0">
                <a:solidFill>
                  <a:srgbClr val="212A33"/>
                </a:solidFill>
              </a:defRPr>
            </a:lvl2pPr>
            <a:lvl3pPr>
              <a:buNone/>
              <a:defRPr sz="2550" b="0">
                <a:solidFill>
                  <a:srgbClr val="212A33"/>
                </a:solidFill>
              </a:defRPr>
            </a:lvl3pPr>
            <a:lvl4pPr>
              <a:buNone/>
              <a:defRPr sz="2550" b="0">
                <a:solidFill>
                  <a:srgbClr val="212A33"/>
                </a:solidFill>
              </a:defRPr>
            </a:lvl4pPr>
            <a:lvl5pPr>
              <a:buNone/>
              <a:defRPr sz="2550" b="0">
                <a:solidFill>
                  <a:srgbClr val="212A33"/>
                </a:solidFill>
              </a:defRPr>
            </a:lvl5pPr>
            <a:lvl6pPr>
              <a:buNone/>
              <a:defRPr sz="2550" b="0">
                <a:solidFill>
                  <a:srgbClr val="212A33"/>
                </a:solidFill>
              </a:defRPr>
            </a:lvl6pPr>
            <a:lvl7pPr>
              <a:buNone/>
              <a:defRPr sz="2550" b="0">
                <a:solidFill>
                  <a:srgbClr val="212A33"/>
                </a:solidFill>
              </a:defRPr>
            </a:lvl7pPr>
            <a:lvl8pPr>
              <a:buNone/>
              <a:defRPr sz="2550" b="0">
                <a:solidFill>
                  <a:srgbClr val="212A33"/>
                </a:solidFill>
              </a:defRPr>
            </a:lvl8pPr>
            <a:lvl9pPr>
              <a:buNone/>
              <a:defRPr sz="2550" b="0">
                <a:solidFill>
                  <a:srgbClr val="212A33"/>
                </a:solidFill>
              </a:defRPr>
            </a:lvl9pPr>
          </a:lstStyle>
          <a:p xmlns:a="http://schemas.openxmlformats.org/drawingml/2006/main">
            <a:pPr>
              <a:buNone/>
              <a:defRPr sz="2550" b="0">
                <a:solidFill>
                  <a:srgbClr val="212A33"/>
                </a:solidFill>
              </a:defRPr>
            </a:pPr>
            <a:r>
              <a:rPr sz="2550" b="0">
                <a:solidFill>
                  <a:srgbClr val="212A33"/>
                </a:solidFill>
              </a:rPr>
              <a:t>4.4: delayed digital fact-checking vs ordinary answers.</a:t>
            </a:r>
          </a:p>
          <a:p xmlns:a="http://schemas.openxmlformats.org/drawingml/2006/main">
            <a:pPr>
              <a:buNone/>
              <a:defRPr sz="2550" b="0">
                <a:solidFill>
                  <a:srgbClr val="212A33"/>
                </a:solidFill>
              </a:defRPr>
            </a:pPr>
            <a:r>
              <a:rPr sz="2550" b="0">
                <a:solidFill>
                  <a:srgbClr val="212A33"/>
                </a:solidFill>
              </a:rPr>
              <a:t>4.5: completed access by budget/disadvantage.</a:t>
            </a:r>
          </a:p>
          <a:p xmlns:a="http://schemas.openxmlformats.org/drawingml/2006/main">
            <a:pPr>
              <a:buNone/>
              <a:defRPr sz="2550" b="0">
                <a:solidFill>
                  <a:srgbClr val="212A33"/>
                </a:solidFill>
              </a:defRPr>
            </a:pPr>
            <a:r>
              <a:rPr sz="2550" b="0">
                <a:solidFill>
                  <a:srgbClr val="212A33"/>
                </a:solidFill>
              </a:rPr>
              <a:t>Model baseline: auction v₃ access 0; lottery each 2/3.</a:t>
            </a:r>
          </a:p>
        </p:txBody>
      </p:sp>
      <p:sp>
        <p:nvSpPr>
          <p:cNvPr id="77" name="impact-limits">
            <a:extLst xmlns:a="http://schemas.openxmlformats.org/drawingml/2006/main">
              <a:ext uri="{FF2B5EF4-FFF2-40B4-BE49-F238E27FC236}">
                <a16:creationId xmlns:a16="http://schemas.microsoft.com/office/drawing/2014/main" id="{09E39D1E-F17E-4FD2-B6EE-A4F0EBF0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17" y="17621250"/>
            <a:ext cx="1104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212A33"/>
                </a:solidFill>
              </a:defRPr>
            </a:defPPr>
            <a:lvl1pPr>
              <a:buNone/>
              <a:defRPr sz="2400" b="0">
                <a:solidFill>
                  <a:srgbClr val="212A33"/>
                </a:solidFill>
              </a:defRPr>
            </a:lvl1pPr>
            <a:lvl2pPr>
              <a:buNone/>
              <a:defRPr sz="2400" b="0">
                <a:solidFill>
                  <a:srgbClr val="212A33"/>
                </a:solidFill>
              </a:defRPr>
            </a:lvl2pPr>
            <a:lvl3pPr>
              <a:buNone/>
              <a:defRPr sz="2400" b="0">
                <a:solidFill>
                  <a:srgbClr val="212A33"/>
                </a:solidFill>
              </a:defRPr>
            </a:lvl3pPr>
            <a:lvl4pPr>
              <a:buNone/>
              <a:defRPr sz="2400" b="0">
                <a:solidFill>
                  <a:srgbClr val="212A33"/>
                </a:solidFill>
              </a:defRPr>
            </a:lvl4pPr>
            <a:lvl5pPr>
              <a:buNone/>
              <a:defRPr sz="2400" b="0">
                <a:solidFill>
                  <a:srgbClr val="212A33"/>
                </a:solidFill>
              </a:defRPr>
            </a:lvl5pPr>
            <a:lvl6pPr>
              <a:buNone/>
              <a:defRPr sz="2400" b="0">
                <a:solidFill>
                  <a:srgbClr val="212A33"/>
                </a:solidFill>
              </a:defRPr>
            </a:lvl6pPr>
            <a:lvl7pPr>
              <a:buNone/>
              <a:defRPr sz="2400" b="0">
                <a:solidFill>
                  <a:srgbClr val="212A33"/>
                </a:solidFill>
              </a:defRPr>
            </a:lvl7pPr>
            <a:lvl8pPr>
              <a:buNone/>
              <a:defRPr sz="2400" b="0">
                <a:solidFill>
                  <a:srgbClr val="212A33"/>
                </a:solidFill>
              </a:defRPr>
            </a:lvl8pPr>
            <a:lvl9pPr>
              <a:buNone/>
              <a:defRPr sz="2400" b="0">
                <a:solidFill>
                  <a:srgbClr val="212A33"/>
                </a:solidFill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212A33"/>
                </a:solidFill>
              </a:defRPr>
            </a:pPr>
            <a:r>
              <a:rPr sz="2400" b="0">
                <a:solidFill>
                  <a:srgbClr val="212A33"/>
                </a:solidFill>
              </a:rPr>
              <a:t>Proposed indicators, not measured SDG effects. Value ≠ income. Exclusion, biased checks and deliberate basic errors require funded entry, independent appeals and free error reporting. Academic replication, provider logs and public-budget audits have different standards.</a:t>
            </a:r>
          </a:p>
        </p:txBody>
      </p:sp>
      <p:sp>
        <p:nvSpPr>
          <p:cNvPr id="78" name="roadmap-econ">
            <a:extLst xmlns:a="http://schemas.openxmlformats.org/drawingml/2006/main">
              <a:ext uri="{FF2B5EF4-FFF2-40B4-BE49-F238E27FC236}">
                <a16:creationId xmlns:a16="http://schemas.microsoft.com/office/drawing/2014/main" id="{E7F14AC5-0BF4-430C-A884-4DE7E8CD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17" y="1990725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3399"/>
            </a:solidFill>
          </a:ln>
        </p:spPr>
        <p:txBody>
          <a:bodyPr xmlns:a="http://schemas.openxmlformats.org/drawingml/2006/main" lIns="114300" tIns="114300" rIns="114300" bIns="114300"/>
          <a:lstStyle xmlns:a="http://schemas.openxmlformats.org/drawingml/2006/main">
            <a:defPPr>
              <a:defRPr sz="2400" b="0">
                <a:solidFill>
                  <a:srgbClr val="212A33"/>
                </a:solidFill>
              </a:defRPr>
            </a:defPPr>
            <a:lvl1pPr>
              <a:buNone/>
              <a:defRPr sz="2400" b="0">
                <a:solidFill>
                  <a:srgbClr val="212A33"/>
                </a:solidFill>
              </a:defRPr>
            </a:lvl1pPr>
            <a:lvl2pPr>
              <a:buNone/>
              <a:defRPr sz="2400" b="0">
                <a:solidFill>
                  <a:srgbClr val="212A33"/>
                </a:solidFill>
              </a:defRPr>
            </a:lvl2pPr>
            <a:lvl3pPr>
              <a:buNone/>
              <a:defRPr sz="2400" b="0">
                <a:solidFill>
                  <a:srgbClr val="212A33"/>
                </a:solidFill>
              </a:defRPr>
            </a:lvl3pPr>
            <a:lvl4pPr>
              <a:buNone/>
              <a:defRPr sz="2400" b="0">
                <a:solidFill>
                  <a:srgbClr val="212A33"/>
                </a:solidFill>
              </a:defRPr>
            </a:lvl4pPr>
            <a:lvl5pPr>
              <a:buNone/>
              <a:defRPr sz="2400" b="0">
                <a:solidFill>
                  <a:srgbClr val="212A33"/>
                </a:solidFill>
              </a:defRPr>
            </a:lvl5pPr>
            <a:lvl6pPr>
              <a:buNone/>
              <a:defRPr sz="2400" b="0">
                <a:solidFill>
                  <a:srgbClr val="212A33"/>
                </a:solidFill>
              </a:defRPr>
            </a:lvl6pPr>
            <a:lvl7pPr>
              <a:buNone/>
              <a:defRPr sz="2400" b="0">
                <a:solidFill>
                  <a:srgbClr val="212A33"/>
                </a:solidFill>
              </a:defRPr>
            </a:lvl7pPr>
            <a:lvl8pPr>
              <a:buNone/>
              <a:defRPr sz="2400" b="0">
                <a:solidFill>
                  <a:srgbClr val="212A33"/>
                </a:solidFill>
              </a:defRPr>
            </a:lvl8pPr>
            <a:lvl9pPr>
              <a:buNone/>
              <a:defRPr sz="2400" b="0">
                <a:solidFill>
                  <a:srgbClr val="212A33"/>
                </a:solidFill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212A33"/>
                </a:solidFill>
              </a:defRPr>
            </a:pPr>
            <a:r>
              <a:rPr sz="2400" b="0">
                <a:solidFill>
                  <a:srgbClr val="212A33"/>
                </a:solidFill>
              </a:rPr>
              <a:t>Economics: do payments cover costs? Real transactions; economist. Criterion: net margin/reserve. Milestone: preregister 1 month after approval.</a:t>
            </a:r>
          </a:p>
        </p:txBody>
      </p:sp>
      <p:sp>
        <p:nvSpPr>
          <p:cNvPr id="79" name="roadmap-cs">
            <a:extLst xmlns:a="http://schemas.openxmlformats.org/drawingml/2006/main">
              <a:ext uri="{FF2B5EF4-FFF2-40B4-BE49-F238E27FC236}">
                <a16:creationId xmlns:a16="http://schemas.microsoft.com/office/drawing/2014/main" id="{9C267BFB-EBCD-4338-9CBC-C97EA5BB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17" y="2105025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3399"/>
            </a:solidFill>
          </a:ln>
        </p:spPr>
        <p:txBody>
          <a:bodyPr xmlns:a="http://schemas.openxmlformats.org/drawingml/2006/main" lIns="114300" tIns="114300" rIns="114300" bIns="114300"/>
          <a:lstStyle xmlns:a="http://schemas.openxmlformats.org/drawingml/2006/main">
            <a:defPPr>
              <a:defRPr sz="2400" b="0">
                <a:solidFill>
                  <a:srgbClr val="212A33"/>
                </a:solidFill>
              </a:defRPr>
            </a:defPPr>
            <a:lvl1pPr>
              <a:buNone/>
              <a:defRPr sz="2400" b="0">
                <a:solidFill>
                  <a:srgbClr val="212A33"/>
                </a:solidFill>
              </a:defRPr>
            </a:lvl1pPr>
            <a:lvl2pPr>
              <a:buNone/>
              <a:defRPr sz="2400" b="0">
                <a:solidFill>
                  <a:srgbClr val="212A33"/>
                </a:solidFill>
              </a:defRPr>
            </a:lvl2pPr>
            <a:lvl3pPr>
              <a:buNone/>
              <a:defRPr sz="2400" b="0">
                <a:solidFill>
                  <a:srgbClr val="212A33"/>
                </a:solidFill>
              </a:defRPr>
            </a:lvl3pPr>
            <a:lvl4pPr>
              <a:buNone/>
              <a:defRPr sz="2400" b="0">
                <a:solidFill>
                  <a:srgbClr val="212A33"/>
                </a:solidFill>
              </a:defRPr>
            </a:lvl4pPr>
            <a:lvl5pPr>
              <a:buNone/>
              <a:defRPr sz="2400" b="0">
                <a:solidFill>
                  <a:srgbClr val="212A33"/>
                </a:solidFill>
              </a:defRPr>
            </a:lvl5pPr>
            <a:lvl6pPr>
              <a:buNone/>
              <a:defRPr sz="2400" b="0">
                <a:solidFill>
                  <a:srgbClr val="212A33"/>
                </a:solidFill>
              </a:defRPr>
            </a:lvl6pPr>
            <a:lvl7pPr>
              <a:buNone/>
              <a:defRPr sz="2400" b="0">
                <a:solidFill>
                  <a:srgbClr val="212A33"/>
                </a:solidFill>
              </a:defRPr>
            </a:lvl7pPr>
            <a:lvl8pPr>
              <a:buNone/>
              <a:defRPr sz="2400" b="0">
                <a:solidFill>
                  <a:srgbClr val="212A33"/>
                </a:solidFill>
              </a:defRPr>
            </a:lvl8pPr>
            <a:lvl9pPr>
              <a:buNone/>
              <a:defRPr sz="2400" b="0">
                <a:solidFill>
                  <a:srgbClr val="212A33"/>
                </a:solidFill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212A33"/>
                </a:solidFill>
              </a:defRPr>
            </a:pPr>
            <a:r>
              <a:rPr sz="2400" b="0">
                <a:solidFill>
                  <a:srgbClr val="212A33"/>
                </a:solidFill>
              </a:rPr>
              <a:t>CS: can checks be trusted? Held-out keys/appeals; CS educator. Criterion: error rates/logs. Milestone: benchmark before recruitment.</a:t>
            </a:r>
          </a:p>
        </p:txBody>
      </p:sp>
      <p:sp>
        <p:nvSpPr>
          <p:cNvPr id="80" name="roadmap-behavior">
            <a:extLst xmlns:a="http://schemas.openxmlformats.org/drawingml/2006/main">
              <a:ext uri="{FF2B5EF4-FFF2-40B4-BE49-F238E27FC236}">
                <a16:creationId xmlns:a16="http://schemas.microsoft.com/office/drawing/2014/main" id="{725A87BF-9F81-43BF-B82C-1D9386D8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17" y="22193250"/>
            <a:ext cx="11049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3399"/>
            </a:solidFill>
          </a:ln>
        </p:spPr>
        <p:txBody>
          <a:bodyPr xmlns:a="http://schemas.openxmlformats.org/drawingml/2006/main" lIns="114300" tIns="114300" rIns="114300" bIns="114300"/>
          <a:lstStyle xmlns:a="http://schemas.openxmlformats.org/drawingml/2006/main">
            <a:defPPr>
              <a:defRPr sz="2400" b="0">
                <a:solidFill>
                  <a:srgbClr val="212A33"/>
                </a:solidFill>
              </a:defRPr>
            </a:defPPr>
            <a:lvl1pPr>
              <a:buNone/>
              <a:defRPr sz="2400" b="0">
                <a:solidFill>
                  <a:srgbClr val="212A33"/>
                </a:solidFill>
              </a:defRPr>
            </a:lvl1pPr>
            <a:lvl2pPr>
              <a:buNone/>
              <a:defRPr sz="2400" b="0">
                <a:solidFill>
                  <a:srgbClr val="212A33"/>
                </a:solidFill>
              </a:defRPr>
            </a:lvl2pPr>
            <a:lvl3pPr>
              <a:buNone/>
              <a:defRPr sz="2400" b="0">
                <a:solidFill>
                  <a:srgbClr val="212A33"/>
                </a:solidFill>
              </a:defRPr>
            </a:lvl3pPr>
            <a:lvl4pPr>
              <a:buNone/>
              <a:defRPr sz="2400" b="0">
                <a:solidFill>
                  <a:srgbClr val="212A33"/>
                </a:solidFill>
              </a:defRPr>
            </a:lvl4pPr>
            <a:lvl5pPr>
              <a:buNone/>
              <a:defRPr sz="2400" b="0">
                <a:solidFill>
                  <a:srgbClr val="212A33"/>
                </a:solidFill>
              </a:defRPr>
            </a:lvl5pPr>
            <a:lvl6pPr>
              <a:buNone/>
              <a:defRPr sz="2400" b="0">
                <a:solidFill>
                  <a:srgbClr val="212A33"/>
                </a:solidFill>
              </a:defRPr>
            </a:lvl6pPr>
            <a:lvl7pPr>
              <a:buNone/>
              <a:defRPr sz="2400" b="0">
                <a:solidFill>
                  <a:srgbClr val="212A33"/>
                </a:solidFill>
              </a:defRPr>
            </a:lvl7pPr>
            <a:lvl8pPr>
              <a:buNone/>
              <a:defRPr sz="2400" b="0">
                <a:solidFill>
                  <a:srgbClr val="212A33"/>
                </a:solidFill>
              </a:defRPr>
            </a:lvl8pPr>
            <a:lvl9pPr>
              <a:buNone/>
              <a:defRPr sz="2400" b="0">
                <a:solidFill>
                  <a:srgbClr val="212A33"/>
                </a:solidFill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212A33"/>
                </a:solidFill>
              </a:defRPr>
            </a:pPr>
            <a:r>
              <a:rPr sz="2400" b="0">
                <a:solidFill>
                  <a:srgbClr val="212A33"/>
                </a:solidFill>
              </a:rPr>
              <a:t>Behavior: accuracy or tone? Factorial test + spending; behavioral scientist/FP2 if interested. Criterion: separate effects. Milestone: ethics review, pilot, delayed test.</a:t>
            </a:r>
          </a:p>
        </p:txBody>
      </p:sp>
      <p:sp>
        <p:nvSpPr>
          <p:cNvPr id="81" name="feedback-heading">
            <a:extLst xmlns:a="http://schemas.openxmlformats.org/drawingml/2006/main">
              <a:ext uri="{FF2B5EF4-FFF2-40B4-BE49-F238E27FC236}">
                <a16:creationId xmlns:a16="http://schemas.microsoft.com/office/drawing/2014/main" id="{C69E51BE-9FBB-43F7-BCA8-01D63559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860625"/>
            <a:ext cx="2000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003399"/>
                </a:solidFill>
              </a:defRPr>
            </a:defPPr>
            <a:lvl1pPr>
              <a:buNone/>
              <a:defRPr sz="2625" b="1">
                <a:solidFill>
                  <a:srgbClr val="003399"/>
                </a:solidFill>
              </a:defRPr>
            </a:lvl1pPr>
            <a:lvl2pPr>
              <a:buNone/>
              <a:defRPr sz="2625" b="1">
                <a:solidFill>
                  <a:srgbClr val="003399"/>
                </a:solidFill>
              </a:defRPr>
            </a:lvl2pPr>
            <a:lvl3pPr>
              <a:buNone/>
              <a:defRPr sz="2625" b="1">
                <a:solidFill>
                  <a:srgbClr val="003399"/>
                </a:solidFill>
              </a:defRPr>
            </a:lvl3pPr>
            <a:lvl4pPr>
              <a:buNone/>
              <a:defRPr sz="2625" b="1">
                <a:solidFill>
                  <a:srgbClr val="003399"/>
                </a:solidFill>
              </a:defRPr>
            </a:lvl4pPr>
            <a:lvl5pPr>
              <a:buNone/>
              <a:defRPr sz="2625" b="1">
                <a:solidFill>
                  <a:srgbClr val="003399"/>
                </a:solidFill>
              </a:defRPr>
            </a:lvl5pPr>
            <a:lvl6pPr>
              <a:buNone/>
              <a:defRPr sz="2625" b="1">
                <a:solidFill>
                  <a:srgbClr val="003399"/>
                </a:solidFill>
              </a:defRPr>
            </a:lvl6pPr>
            <a:lvl7pPr>
              <a:buNone/>
              <a:defRPr sz="2625" b="1">
                <a:solidFill>
                  <a:srgbClr val="003399"/>
                </a:solidFill>
              </a:defRPr>
            </a:lvl7pPr>
            <a:lvl8pPr>
              <a:buNone/>
              <a:defRPr sz="2625" b="1">
                <a:solidFill>
                  <a:srgbClr val="003399"/>
                </a:solidFill>
              </a:defRPr>
            </a:lvl8pPr>
            <a:lvl9pPr>
              <a:buNone/>
              <a:defRPr sz="2625" b="1">
                <a:solidFill>
                  <a:srgbClr val="003399"/>
                </a:solidFill>
              </a:defRPr>
            </a:lvl9pPr>
          </a:lstStyle>
          <a:p xmlns:a="http://schemas.openxmlformats.org/drawingml/2006/main">
            <a:pPr>
              <a:buNone/>
              <a:defRPr sz="2625" b="1">
                <a:solidFill>
                  <a:srgbClr val="003399"/>
                </a:solidFill>
              </a:defRPr>
            </a:pPr>
            <a:r>
              <a:rPr sz="2625" b="1">
                <a:solidFill>
                  <a:srgbClr val="003399"/>
                </a:solidFill>
              </a:rPr>
              <a:t>Feedback and revision</a:t>
            </a:r>
          </a:p>
        </p:txBody>
      </p:sp>
      <p:sp>
        <p:nvSpPr>
          <p:cNvPr id="82" name="feedback-decisions">
            <a:extLst xmlns:a="http://schemas.openxmlformats.org/drawingml/2006/main">
              <a:ext uri="{FF2B5EF4-FFF2-40B4-BE49-F238E27FC236}">
                <a16:creationId xmlns:a16="http://schemas.microsoft.com/office/drawing/2014/main" id="{54420293-8A23-408F-8B84-2ECF68EF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384500"/>
            <a:ext cx="2000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212A33"/>
                </a:solidFill>
              </a:defRPr>
            </a:defPPr>
            <a:lvl1pPr>
              <a:buNone/>
              <a:defRPr sz="2325" b="0">
                <a:solidFill>
                  <a:srgbClr val="212A33"/>
                </a:solidFill>
              </a:defRPr>
            </a:lvl1pPr>
            <a:lvl2pPr>
              <a:buNone/>
              <a:defRPr sz="2325" b="0">
                <a:solidFill>
                  <a:srgbClr val="212A33"/>
                </a:solidFill>
              </a:defRPr>
            </a:lvl2pPr>
            <a:lvl3pPr>
              <a:buNone/>
              <a:defRPr sz="2325" b="0">
                <a:solidFill>
                  <a:srgbClr val="212A33"/>
                </a:solidFill>
              </a:defRPr>
            </a:lvl3pPr>
            <a:lvl4pPr>
              <a:buNone/>
              <a:defRPr sz="2325" b="0">
                <a:solidFill>
                  <a:srgbClr val="212A33"/>
                </a:solidFill>
              </a:defRPr>
            </a:lvl4pPr>
            <a:lvl5pPr>
              <a:buNone/>
              <a:defRPr sz="2325" b="0">
                <a:solidFill>
                  <a:srgbClr val="212A33"/>
                </a:solidFill>
              </a:defRPr>
            </a:lvl5pPr>
            <a:lvl6pPr>
              <a:buNone/>
              <a:defRPr sz="2325" b="0">
                <a:solidFill>
                  <a:srgbClr val="212A33"/>
                </a:solidFill>
              </a:defRPr>
            </a:lvl6pPr>
            <a:lvl7pPr>
              <a:buNone/>
              <a:defRPr sz="2325" b="0">
                <a:solidFill>
                  <a:srgbClr val="212A33"/>
                </a:solidFill>
              </a:defRPr>
            </a:lvl7pPr>
            <a:lvl8pPr>
              <a:buNone/>
              <a:defRPr sz="2325" b="0">
                <a:solidFill>
                  <a:srgbClr val="212A33"/>
                </a:solidFill>
              </a:defRPr>
            </a:lvl8pPr>
            <a:lvl9pPr>
              <a:buNone/>
              <a:defRPr sz="2325" b="0">
                <a:solidFill>
                  <a:srgbClr val="212A33"/>
                </a:solidFill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212A33"/>
                </a:solidFill>
              </a:defRPr>
            </a:pPr>
            <a:r>
              <a:rPr sz="2325" b="0">
                <a:solidFill>
                  <a:srgbClr val="212A33"/>
                </a:solidFill>
              </a:rPr>
              <a:t>Prof. Zhang (Oct 14): separate reflection from purchases and specify acceptance, appeals and lottery funding. These revisions retain cost-one indifference and the value 9 versus 8 comparison. FP2's literature suggestions inform independent checks; its award motivates the accuracy–tone study.</a:t>
            </a:r>
          </a:p>
        </p:txBody>
      </p:sp>
      <p:sp>
        <p:nvSpPr>
          <p:cNvPr id="83" name="named-contribution">
            <a:extLst xmlns:a="http://schemas.openxmlformats.org/drawingml/2006/main">
              <a:ext uri="{FF2B5EF4-FFF2-40B4-BE49-F238E27FC236}">
                <a16:creationId xmlns:a16="http://schemas.microsoft.com/office/drawing/2014/main" id="{FB588736-D5D8-4081-817C-6B54EB1A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0" y="27432000"/>
            <a:ext cx="18954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325" b="0">
                <a:solidFill>
                  <a:srgbClr val="212A33"/>
                </a:solidFill>
              </a:defRPr>
            </a:defPPr>
            <a:lvl1pPr algn="l">
              <a:buNone/>
              <a:defRPr sz="2325" b="0">
                <a:solidFill>
                  <a:srgbClr val="212A33"/>
                </a:solidFill>
              </a:defRPr>
            </a:lvl1pPr>
            <a:lvl2pPr algn="l">
              <a:buNone/>
              <a:defRPr sz="2325" b="0">
                <a:solidFill>
                  <a:srgbClr val="212A33"/>
                </a:solidFill>
              </a:defRPr>
            </a:lvl2pPr>
            <a:lvl3pPr algn="l">
              <a:buNone/>
              <a:defRPr sz="2325" b="0">
                <a:solidFill>
                  <a:srgbClr val="212A33"/>
                </a:solidFill>
              </a:defRPr>
            </a:lvl3pPr>
            <a:lvl4pPr algn="l">
              <a:buNone/>
              <a:defRPr sz="2325" b="0">
                <a:solidFill>
                  <a:srgbClr val="212A33"/>
                </a:solidFill>
              </a:defRPr>
            </a:lvl4pPr>
            <a:lvl5pPr algn="l">
              <a:buNone/>
              <a:defRPr sz="2325" b="0">
                <a:solidFill>
                  <a:srgbClr val="212A33"/>
                </a:solidFill>
              </a:defRPr>
            </a:lvl5pPr>
            <a:lvl6pPr algn="l">
              <a:buNone/>
              <a:defRPr sz="2325" b="0">
                <a:solidFill>
                  <a:srgbClr val="212A33"/>
                </a:solidFill>
              </a:defRPr>
            </a:lvl6pPr>
            <a:lvl7pPr algn="l">
              <a:buNone/>
              <a:defRPr sz="2325" b="0">
                <a:solidFill>
                  <a:srgbClr val="212A33"/>
                </a:solidFill>
              </a:defRPr>
            </a:lvl7pPr>
            <a:lvl8pPr algn="l">
              <a:buNone/>
              <a:defRPr sz="2325" b="0">
                <a:solidFill>
                  <a:srgbClr val="212A33"/>
                </a:solidFill>
              </a:defRPr>
            </a:lvl8pPr>
            <a:lvl9pPr algn="l">
              <a:buNone/>
              <a:defRPr sz="2325" b="0">
                <a:solidFill>
                  <a:srgbClr val="212A33"/>
                </a:solidFill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12A33"/>
                </a:solidFill>
              </a:defRPr>
            </a:pPr>
            <a:r>
              <a:rPr sz="2325" b="0">
                <a:solidFill>
                  <a:srgbClr val="212A33"/>
                </a:solidFill>
              </a:rPr>
              <a:t>Yongzhuo Wu chose AI sycophancy as the research topic and developed the H/S model and allocation comparison. Verification uses notebook checks and Studio comparisons; the October 5 reflection informs the behavioral interpretation.</a:t>
            </a:r>
          </a:p>
        </p:txBody>
      </p:sp>
      <p:sp>
        <p:nvSpPr>
          <p:cNvPr id="84" name="ai-use-disclosure">
            <a:extLst xmlns:a="http://schemas.openxmlformats.org/drawingml/2006/main">
              <a:ext uri="{FF2B5EF4-FFF2-40B4-BE49-F238E27FC236}">
                <a16:creationId xmlns:a16="http://schemas.microsoft.com/office/drawing/2014/main" id="{66214793-8025-4EB1-B72C-91E00C99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432250"/>
            <a:ext cx="2000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0">
                <a:solidFill>
                  <a:srgbClr val="56616B"/>
                </a:solidFill>
              </a:defRPr>
            </a:defPPr>
            <a:lvl1pPr algn="l">
              <a:buNone/>
              <a:defRPr sz="2100" b="0">
                <a:solidFill>
                  <a:srgbClr val="56616B"/>
                </a:solidFill>
              </a:defRPr>
            </a:lvl1pPr>
            <a:lvl2pPr algn="l">
              <a:buNone/>
              <a:defRPr sz="2100" b="0">
                <a:solidFill>
                  <a:srgbClr val="56616B"/>
                </a:solidFill>
              </a:defRPr>
            </a:lvl2pPr>
            <a:lvl3pPr algn="l">
              <a:buNone/>
              <a:defRPr sz="2100" b="0">
                <a:solidFill>
                  <a:srgbClr val="56616B"/>
                </a:solidFill>
              </a:defRPr>
            </a:lvl3pPr>
            <a:lvl4pPr algn="l">
              <a:buNone/>
              <a:defRPr sz="2100" b="0">
                <a:solidFill>
                  <a:srgbClr val="56616B"/>
                </a:solidFill>
              </a:defRPr>
            </a:lvl4pPr>
            <a:lvl5pPr algn="l">
              <a:buNone/>
              <a:defRPr sz="2100" b="0">
                <a:solidFill>
                  <a:srgbClr val="56616B"/>
                </a:solidFill>
              </a:defRPr>
            </a:lvl5pPr>
            <a:lvl6pPr algn="l">
              <a:buNone/>
              <a:defRPr sz="2100" b="0">
                <a:solidFill>
                  <a:srgbClr val="56616B"/>
                </a:solidFill>
              </a:defRPr>
            </a:lvl6pPr>
            <a:lvl7pPr algn="l">
              <a:buNone/>
              <a:defRPr sz="2100" b="0">
                <a:solidFill>
                  <a:srgbClr val="56616B"/>
                </a:solidFill>
              </a:defRPr>
            </a:lvl7pPr>
            <a:lvl8pPr algn="l">
              <a:buNone/>
              <a:defRPr sz="2100" b="0">
                <a:solidFill>
                  <a:srgbClr val="56616B"/>
                </a:solidFill>
              </a:defRPr>
            </a:lvl8pPr>
            <a:lvl9pPr algn="l">
              <a:buNone/>
              <a:defRPr sz="2100" b="0">
                <a:solidFill>
                  <a:srgbClr val="56616B"/>
                </a:solidFill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56616B"/>
                </a:solidFill>
              </a:defRPr>
            </a:pPr>
            <a:r>
              <a:rPr sz="2100" b="0">
                <a:solidFill>
                  <a:srgbClr val="56616B"/>
                </a:solidFill>
              </a:rPr>
              <a:t>AI use: GPT-6 Astra (September 27, 2026) and GPT-6.1 Sol (October 6, 19 and 21, 2026) assisted with poster generation. I remain responsible for its originality, accuracy and integrity.</a:t>
            </a:r>
          </a:p>
        </p:txBody>
      </p:sp>
    </p:spTree>
    <p:extLst>
      <p:ext uri="{BB962C8B-B14F-4D97-AF65-F5344CB8AC3E}">
        <p14:creationId xmlns:p14="http://schemas.microsoft.com/office/powerpoint/2010/main" val="813982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2026-10-21T13:28:23.6290000Z</dcterms:created>
  <dcterms:modified xsi:type="dcterms:W3CDTF">2026-10-21T13:28:23.6290000Z</dcterms:modified>
</coreProperties>
</file>